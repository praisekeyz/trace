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1463040"/>
            <a:ext cx="54864" cy="39319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7315200" cy="2011680"/>
          </a:xfrm>
          <a:prstGeom prst="rect">
            <a:avLst/>
          </a:prstGeom>
          <a:noFill/>
        </p:spPr>
        <p:txBody>
          <a:bodyPr wrap="square">
            <a:spAutoFit/>
          </a:bodyPr>
          <a:lstStyle/>
          <a:p>
            <a:pPr algn="l"/>
            <a:r>
              <a:rPr sz="9600" b="1" i="0">
                <a:solidFill>
                  <a:srgbClr val="FFFFFF"/>
                </a:solidFill>
                <a:latin typeface="Calibri"/>
              </a:rPr>
              <a:t>TRACE</a:t>
            </a:r>
          </a:p>
        </p:txBody>
      </p:sp>
      <p:sp>
        <p:nvSpPr>
          <p:cNvPr id="5" name="TextBox 4"/>
          <p:cNvSpPr txBox="1"/>
          <p:nvPr/>
        </p:nvSpPr>
        <p:spPr>
          <a:xfrm>
            <a:off x="804672" y="3246120"/>
            <a:ext cx="8229600" cy="731520"/>
          </a:xfrm>
          <a:prstGeom prst="rect">
            <a:avLst/>
          </a:prstGeom>
          <a:noFill/>
        </p:spPr>
        <p:txBody>
          <a:bodyPr wrap="square">
            <a:spAutoFit/>
          </a:bodyPr>
          <a:lstStyle/>
          <a:p>
            <a:pPr algn="l"/>
            <a:r>
              <a:rPr sz="2600" b="0" i="0">
                <a:solidFill>
                  <a:srgbClr val="F97316"/>
                </a:solidFill>
                <a:latin typeface="Calibri"/>
              </a:rPr>
              <a:t>Economic Identity for the Invisible</a:t>
            </a:r>
          </a:p>
        </p:txBody>
      </p:sp>
      <p:sp>
        <p:nvSpPr>
          <p:cNvPr id="6" name="TextBox 5"/>
          <p:cNvSpPr txBox="1"/>
          <p:nvPr/>
        </p:nvSpPr>
        <p:spPr>
          <a:xfrm>
            <a:off x="804672" y="3886200"/>
            <a:ext cx="8229600" cy="640080"/>
          </a:xfrm>
          <a:prstGeom prst="rect">
            <a:avLst/>
          </a:prstGeom>
          <a:noFill/>
        </p:spPr>
        <p:txBody>
          <a:bodyPr wrap="square">
            <a:spAutoFit/>
          </a:bodyPr>
          <a:lstStyle/>
          <a:p>
            <a:pPr algn="l"/>
            <a:r>
              <a:rPr sz="1600" b="0" i="0">
                <a:solidFill>
                  <a:srgbClr val="94A3B8"/>
                </a:solidFill>
                <a:latin typeface="Calibri"/>
              </a:rPr>
              <a:t>Connecting informal traders &amp; gig workers to the economy they power.</a:t>
            </a:r>
          </a:p>
        </p:txBody>
      </p:sp>
      <p:sp>
        <p:nvSpPr>
          <p:cNvPr id="7" name="Rectangle 6"/>
          <p:cNvSpPr/>
          <p:nvPr/>
        </p:nvSpPr>
        <p:spPr>
          <a:xfrm>
            <a:off x="548640" y="585216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5989320"/>
            <a:ext cx="4572000" cy="457200"/>
          </a:xfrm>
          <a:prstGeom prst="rect">
            <a:avLst/>
          </a:prstGeom>
          <a:noFill/>
        </p:spPr>
        <p:txBody>
          <a:bodyPr wrap="square">
            <a:spAutoFit/>
          </a:bodyPr>
          <a:lstStyle/>
          <a:p>
            <a:pPr algn="l"/>
            <a:r>
              <a:rPr sz="1300" b="0" i="0">
                <a:solidFill>
                  <a:srgbClr val="94A3B8"/>
                </a:solidFill>
                <a:latin typeface="Calibri"/>
              </a:rPr>
              <a:t>Squad Hackathon 3.0</a:t>
            </a:r>
          </a:p>
        </p:txBody>
      </p:sp>
      <p:sp>
        <p:nvSpPr>
          <p:cNvPr id="9" name="TextBox 8"/>
          <p:cNvSpPr txBox="1"/>
          <p:nvPr/>
        </p:nvSpPr>
        <p:spPr>
          <a:xfrm>
            <a:off x="548640" y="5989320"/>
            <a:ext cx="11064240" cy="457200"/>
          </a:xfrm>
          <a:prstGeom prst="rect">
            <a:avLst/>
          </a:prstGeom>
          <a:noFill/>
        </p:spPr>
        <p:txBody>
          <a:bodyPr wrap="square">
            <a:spAutoFit/>
          </a:bodyPr>
          <a:lstStyle/>
          <a:p>
            <a:pPr algn="r"/>
            <a:r>
              <a:rPr sz="1300" b="0" i="0">
                <a:solidFill>
                  <a:srgbClr val="94A3B8"/>
                </a:solidFill>
                <a:latin typeface="Calibri"/>
              </a:rPr>
              <a:t>Challenge 02  ·  Smart Systems: The Intelligent Economy</a:t>
            </a:r>
          </a:p>
        </p:txBody>
      </p:sp>
      <p:sp>
        <p:nvSpPr>
          <p:cNvPr id="10" name="Oval 9"/>
          <p:cNvSpPr/>
          <p:nvPr/>
        </p:nvSpPr>
        <p:spPr>
          <a:xfrm>
            <a:off x="8961120" y="548640"/>
            <a:ext cx="3200400" cy="3200400"/>
          </a:xfrm>
          <a:prstGeom prst="ellipse">
            <a:avLst/>
          </a:prstGeom>
          <a:no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418320" y="1005840"/>
            <a:ext cx="2286000" cy="2286000"/>
          </a:xfrm>
          <a:prstGeom prst="ellipse">
            <a:avLst/>
          </a:prstGeom>
          <a:noFill/>
          <a:ln w="228600">
            <a:solidFill>
              <a:srgbClr val="1018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149840" y="4114800"/>
            <a:ext cx="228600" cy="22860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5486400" cy="365760"/>
          </a:xfrm>
          <a:prstGeom prst="rect">
            <a:avLst/>
          </a:prstGeom>
          <a:noFill/>
        </p:spPr>
        <p:txBody>
          <a:bodyPr wrap="square">
            <a:spAutoFit/>
          </a:bodyPr>
          <a:lstStyle/>
          <a:p>
            <a:pPr algn="l"/>
            <a:r>
              <a:rPr sz="1100" b="1" i="0">
                <a:solidFill>
                  <a:srgbClr val="F97316"/>
                </a:solidFill>
                <a:latin typeface="Calibri"/>
              </a:rPr>
              <a:t>01  —  PROBLEM</a:t>
            </a:r>
          </a:p>
        </p:txBody>
      </p:sp>
      <p:sp>
        <p:nvSpPr>
          <p:cNvPr id="4" name="TextBox 3"/>
          <p:cNvSpPr txBox="1"/>
          <p:nvPr/>
        </p:nvSpPr>
        <p:spPr>
          <a:xfrm>
            <a:off x="548640" y="822960"/>
            <a:ext cx="8229600" cy="1920240"/>
          </a:xfrm>
          <a:prstGeom prst="rect">
            <a:avLst/>
          </a:prstGeom>
          <a:noFill/>
        </p:spPr>
        <p:txBody>
          <a:bodyPr wrap="square">
            <a:spAutoFit/>
          </a:bodyPr>
          <a:lstStyle/>
          <a:p>
            <a:pPr algn="l"/>
            <a:r>
              <a:rPr sz="5400" b="1">
                <a:solidFill>
                  <a:srgbClr val="FFFFFF"/>
                </a:solidFill>
                <a:latin typeface="Calibri"/>
              </a:rPr>
              <a:t>70% Work.</a:t>
            </a:r>
          </a:p>
          <a:p>
            <a:pPr algn="l"/>
            <a:r>
              <a:rPr sz="5400" b="1">
                <a:solidFill>
                  <a:srgbClr val="F97316"/>
                </a:solidFill>
                <a:latin typeface="Calibri"/>
              </a:rPr>
              <a:t>None of it Counts.</a:t>
            </a:r>
          </a:p>
        </p:txBody>
      </p:sp>
      <p:sp>
        <p:nvSpPr>
          <p:cNvPr id="5" name="TextBox 4"/>
          <p:cNvSpPr txBox="1"/>
          <p:nvPr/>
        </p:nvSpPr>
        <p:spPr>
          <a:xfrm>
            <a:off x="548640" y="2606040"/>
            <a:ext cx="7498079" cy="914400"/>
          </a:xfrm>
          <a:prstGeom prst="rect">
            <a:avLst/>
          </a:prstGeom>
          <a:noFill/>
        </p:spPr>
        <p:txBody>
          <a:bodyPr wrap="square">
            <a:spAutoFit/>
          </a:bodyPr>
          <a:lstStyle/>
          <a:p>
            <a:pPr algn="l"/>
            <a:r>
              <a:rPr sz="1500" b="0" i="0">
                <a:solidFill>
                  <a:srgbClr val="94A3B8"/>
                </a:solidFill>
                <a:latin typeface="Calibri"/>
              </a:rPr>
              <a:t>Across sub-Saharan Africa, millions sustain families through informal trade — yet they are invisible to banks, lenders, and the systems that could empower them.</a:t>
            </a:r>
          </a:p>
        </p:txBody>
      </p:sp>
      <p:sp>
        <p:nvSpPr>
          <p:cNvPr id="6" name="Rectangle 5"/>
          <p:cNvSpPr/>
          <p:nvPr/>
        </p:nvSpPr>
        <p:spPr>
          <a:xfrm>
            <a:off x="548640" y="3703320"/>
            <a:ext cx="3383280" cy="24688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703320"/>
            <a:ext cx="338328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87952" y="3703320"/>
            <a:ext cx="3383280" cy="24688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87952" y="3703320"/>
            <a:ext cx="338328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27264" y="3703320"/>
            <a:ext cx="3383280" cy="24688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7264" y="3703320"/>
            <a:ext cx="338328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023360"/>
            <a:ext cx="2926080" cy="822960"/>
          </a:xfrm>
          <a:prstGeom prst="rect">
            <a:avLst/>
          </a:prstGeom>
          <a:noFill/>
        </p:spPr>
        <p:txBody>
          <a:bodyPr wrap="square">
            <a:spAutoFit/>
          </a:bodyPr>
          <a:lstStyle/>
          <a:p>
            <a:pPr algn="l"/>
            <a:r>
              <a:rPr sz="5200" b="1" i="0">
                <a:solidFill>
                  <a:srgbClr val="F97316"/>
                </a:solidFill>
                <a:latin typeface="Calibri"/>
              </a:rPr>
              <a:t>70%</a:t>
            </a:r>
          </a:p>
        </p:txBody>
      </p:sp>
      <p:sp>
        <p:nvSpPr>
          <p:cNvPr id="13" name="TextBox 12"/>
          <p:cNvSpPr txBox="1"/>
          <p:nvPr/>
        </p:nvSpPr>
        <p:spPr>
          <a:xfrm>
            <a:off x="777240" y="4800600"/>
            <a:ext cx="2926080" cy="1097280"/>
          </a:xfrm>
          <a:prstGeom prst="rect">
            <a:avLst/>
          </a:prstGeom>
          <a:noFill/>
        </p:spPr>
        <p:txBody>
          <a:bodyPr wrap="square">
            <a:spAutoFit/>
          </a:bodyPr>
          <a:lstStyle/>
          <a:p>
            <a:pPr algn="l"/>
            <a:r>
              <a:rPr sz="1300" b="0" i="0">
                <a:solidFill>
                  <a:srgbClr val="94A3B8"/>
                </a:solidFill>
                <a:latin typeface="Calibri"/>
              </a:rPr>
              <a:t>of employment in sub-Saharan Africa
comes from the informal economy</a:t>
            </a:r>
          </a:p>
        </p:txBody>
      </p:sp>
      <p:sp>
        <p:nvSpPr>
          <p:cNvPr id="14" name="TextBox 13"/>
          <p:cNvSpPr txBox="1"/>
          <p:nvPr/>
        </p:nvSpPr>
        <p:spPr>
          <a:xfrm>
            <a:off x="4416552" y="4023360"/>
            <a:ext cx="2926080" cy="822960"/>
          </a:xfrm>
          <a:prstGeom prst="rect">
            <a:avLst/>
          </a:prstGeom>
          <a:noFill/>
        </p:spPr>
        <p:txBody>
          <a:bodyPr wrap="square">
            <a:spAutoFit/>
          </a:bodyPr>
          <a:lstStyle/>
          <a:p>
            <a:pPr algn="l"/>
            <a:r>
              <a:rPr sz="5200" b="1" i="0">
                <a:solidFill>
                  <a:srgbClr val="F97316"/>
                </a:solidFill>
                <a:latin typeface="Calibri"/>
              </a:rPr>
              <a:t>0</a:t>
            </a:r>
          </a:p>
        </p:txBody>
      </p:sp>
      <p:sp>
        <p:nvSpPr>
          <p:cNvPr id="15" name="TextBox 14"/>
          <p:cNvSpPr txBox="1"/>
          <p:nvPr/>
        </p:nvSpPr>
        <p:spPr>
          <a:xfrm>
            <a:off x="4416552" y="4800600"/>
            <a:ext cx="2926080" cy="1097280"/>
          </a:xfrm>
          <a:prstGeom prst="rect">
            <a:avLst/>
          </a:prstGeom>
          <a:noFill/>
        </p:spPr>
        <p:txBody>
          <a:bodyPr wrap="square">
            <a:spAutoFit/>
          </a:bodyPr>
          <a:lstStyle/>
          <a:p>
            <a:pPr algn="l"/>
            <a:r>
              <a:rPr sz="1300" b="0" i="0">
                <a:solidFill>
                  <a:srgbClr val="94A3B8"/>
                </a:solidFill>
                <a:latin typeface="Calibri"/>
              </a:rPr>
              <a:t>credit score  ·  0 loan history
0 financial identity to show banks</a:t>
            </a:r>
          </a:p>
        </p:txBody>
      </p:sp>
      <p:sp>
        <p:nvSpPr>
          <p:cNvPr id="16" name="TextBox 15"/>
          <p:cNvSpPr txBox="1"/>
          <p:nvPr/>
        </p:nvSpPr>
        <p:spPr>
          <a:xfrm>
            <a:off x="8055864" y="4023360"/>
            <a:ext cx="2926080" cy="822960"/>
          </a:xfrm>
          <a:prstGeom prst="rect">
            <a:avLst/>
          </a:prstGeom>
          <a:noFill/>
        </p:spPr>
        <p:txBody>
          <a:bodyPr wrap="square">
            <a:spAutoFit/>
          </a:bodyPr>
          <a:lstStyle/>
          <a:p>
            <a:pPr algn="l"/>
            <a:r>
              <a:rPr sz="4000" b="1" i="0">
                <a:solidFill>
                  <a:srgbClr val="F97316"/>
                </a:solidFill>
                <a:latin typeface="Calibri"/>
              </a:rPr>
              <a:t>$17.6B</a:t>
            </a:r>
          </a:p>
        </p:txBody>
      </p:sp>
      <p:sp>
        <p:nvSpPr>
          <p:cNvPr id="17" name="TextBox 16"/>
          <p:cNvSpPr txBox="1"/>
          <p:nvPr/>
        </p:nvSpPr>
        <p:spPr>
          <a:xfrm>
            <a:off x="8055864" y="4800600"/>
            <a:ext cx="2926080" cy="1097280"/>
          </a:xfrm>
          <a:prstGeom prst="rect">
            <a:avLst/>
          </a:prstGeom>
          <a:noFill/>
        </p:spPr>
        <p:txBody>
          <a:bodyPr wrap="square">
            <a:spAutoFit/>
          </a:bodyPr>
          <a:lstStyle/>
          <a:p>
            <a:pPr algn="l"/>
            <a:r>
              <a:rPr sz="1300" b="0" i="0">
                <a:solidFill>
                  <a:srgbClr val="94A3B8"/>
                </a:solidFill>
                <a:latin typeface="Calibri"/>
              </a:rPr>
              <a:t>in informal cross-border trade in
SADC alone — uncounted, unserved</a:t>
            </a:r>
          </a:p>
        </p:txBody>
      </p:sp>
      <p:sp>
        <p:nvSpPr>
          <p:cNvPr id="18" name="Oval 17"/>
          <p:cNvSpPr/>
          <p:nvPr/>
        </p:nvSpPr>
        <p:spPr>
          <a:xfrm>
            <a:off x="9601200" y="274320"/>
            <a:ext cx="2377440" cy="2377440"/>
          </a:xfrm>
          <a:prstGeom prst="ellipse">
            <a:avLst/>
          </a:prstGeom>
          <a:noFill/>
          <a:ln w="2794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492240"/>
            <a:ext cx="7315200" cy="320040"/>
          </a:xfrm>
          <a:prstGeom prst="rect">
            <a:avLst/>
          </a:prstGeom>
          <a:noFill/>
        </p:spPr>
        <p:txBody>
          <a:bodyPr wrap="square">
            <a:spAutoFit/>
          </a:bodyPr>
          <a:lstStyle/>
          <a:p>
            <a:pPr algn="l"/>
            <a:r>
              <a:rPr sz="900" b="0" i="0">
                <a:solidFill>
                  <a:srgbClr val="445570"/>
                </a:solidFill>
                <a:latin typeface="Calibri"/>
              </a:rPr>
              <a:t>Source: Global Initiative · SADC Informal Trade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02  —  TARGET USER</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9144000" cy="685800"/>
          </a:xfrm>
          <a:prstGeom prst="rect">
            <a:avLst/>
          </a:prstGeom>
          <a:noFill/>
        </p:spPr>
        <p:txBody>
          <a:bodyPr wrap="square">
            <a:spAutoFit/>
          </a:bodyPr>
          <a:lstStyle/>
          <a:p>
            <a:pPr algn="l"/>
            <a:r>
              <a:rPr sz="3800" b="1" i="0">
                <a:solidFill>
                  <a:srgbClr val="FFFFFF"/>
                </a:solidFill>
                <a:latin typeface="Calibri"/>
              </a:rPr>
              <a:t>Meet the People We Serve</a:t>
            </a:r>
          </a:p>
        </p:txBody>
      </p:sp>
      <p:sp>
        <p:nvSpPr>
          <p:cNvPr id="7" name="TextBox 6"/>
          <p:cNvSpPr txBox="1"/>
          <p:nvPr/>
        </p:nvSpPr>
        <p:spPr>
          <a:xfrm>
            <a:off x="548640" y="1481328"/>
            <a:ext cx="10789920" cy="457200"/>
          </a:xfrm>
          <a:prstGeom prst="rect">
            <a:avLst/>
          </a:prstGeom>
          <a:noFill/>
        </p:spPr>
        <p:txBody>
          <a:bodyPr wrap="square">
            <a:spAutoFit/>
          </a:bodyPr>
          <a:lstStyle/>
          <a:p>
            <a:pPr algn="l"/>
            <a:r>
              <a:rPr sz="1300" b="0" i="0">
                <a:solidFill>
                  <a:srgbClr val="94A3B8"/>
                </a:solidFill>
                <a:latin typeface="Calibri"/>
              </a:rPr>
              <a:t>We spoke to informal traders and gig workers across Lagos and Abuja. Two of millions who exist outside the financial system — not by choice, but by design.</a:t>
            </a:r>
          </a:p>
        </p:txBody>
      </p:sp>
      <p:sp>
        <p:nvSpPr>
          <p:cNvPr id="8" name="Rectangle 7"/>
          <p:cNvSpPr/>
          <p:nvPr/>
        </p:nvSpPr>
        <p:spPr>
          <a:xfrm>
            <a:off x="548640" y="2057400"/>
            <a:ext cx="5349240" cy="352044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57400"/>
            <a:ext cx="53492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0" y="2057400"/>
            <a:ext cx="5349240" cy="352044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2057400"/>
            <a:ext cx="53492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221992"/>
            <a:ext cx="4837176" cy="502920"/>
          </a:xfrm>
          <a:prstGeom prst="rect">
            <a:avLst/>
          </a:prstGeom>
          <a:noFill/>
        </p:spPr>
        <p:txBody>
          <a:bodyPr wrap="square">
            <a:spAutoFit/>
          </a:bodyPr>
          <a:lstStyle/>
          <a:p>
            <a:pPr algn="l"/>
            <a:r>
              <a:rPr sz="2800" b="1" i="0">
                <a:solidFill>
                  <a:srgbClr val="FFFFFF"/>
                </a:solidFill>
                <a:latin typeface="Calibri"/>
              </a:rPr>
              <a:t>AMAKA</a:t>
            </a:r>
          </a:p>
        </p:txBody>
      </p:sp>
      <p:sp>
        <p:nvSpPr>
          <p:cNvPr id="13" name="TextBox 12"/>
          <p:cNvSpPr txBox="1"/>
          <p:nvPr/>
        </p:nvSpPr>
        <p:spPr>
          <a:xfrm>
            <a:off x="804672" y="2715768"/>
            <a:ext cx="4837176" cy="320040"/>
          </a:xfrm>
          <a:prstGeom prst="rect">
            <a:avLst/>
          </a:prstGeom>
          <a:noFill/>
        </p:spPr>
        <p:txBody>
          <a:bodyPr wrap="square">
            <a:spAutoFit/>
          </a:bodyPr>
          <a:lstStyle/>
          <a:p>
            <a:pPr algn="l"/>
            <a:r>
              <a:rPr sz="1200" b="0" i="0">
                <a:solidFill>
                  <a:srgbClr val="F97316"/>
                </a:solidFill>
                <a:latin typeface="Calibri"/>
              </a:rPr>
              <a:t>34  ·  Fabric Trader  ·  Lagos Island Market</a:t>
            </a:r>
          </a:p>
        </p:txBody>
      </p:sp>
      <p:sp>
        <p:nvSpPr>
          <p:cNvPr id="14" name="Rectangle 13"/>
          <p:cNvSpPr/>
          <p:nvPr/>
        </p:nvSpPr>
        <p:spPr>
          <a:xfrm>
            <a:off x="804672" y="3081528"/>
            <a:ext cx="4837176"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136392"/>
            <a:ext cx="4837176" cy="320040"/>
          </a:xfrm>
          <a:prstGeom prst="rect">
            <a:avLst/>
          </a:prstGeom>
          <a:noFill/>
        </p:spPr>
        <p:txBody>
          <a:bodyPr wrap="square">
            <a:spAutoFit/>
          </a:bodyPr>
          <a:lstStyle/>
          <a:p>
            <a:pPr algn="l"/>
            <a:r>
              <a:rPr sz="1000" b="0" i="0">
                <a:solidFill>
                  <a:srgbClr val="94A3B8"/>
                </a:solidFill>
                <a:latin typeface="Calibri"/>
              </a:rPr>
              <a:t>8 yrs in business   ·   ₦45K/week revenue   ·   0 credit score</a:t>
            </a:r>
          </a:p>
        </p:txBody>
      </p:sp>
      <p:sp>
        <p:nvSpPr>
          <p:cNvPr id="16" name="TextBox 15"/>
          <p:cNvSpPr txBox="1"/>
          <p:nvPr/>
        </p:nvSpPr>
        <p:spPr>
          <a:xfrm>
            <a:off x="804672" y="3547872"/>
            <a:ext cx="4837176" cy="1234440"/>
          </a:xfrm>
          <a:prstGeom prst="rect">
            <a:avLst/>
          </a:prstGeom>
          <a:noFill/>
        </p:spPr>
        <p:txBody>
          <a:bodyPr wrap="square">
            <a:spAutoFit/>
          </a:bodyPr>
          <a:lstStyle/>
          <a:p>
            <a:pPr algn="l"/>
            <a:r>
              <a:rPr sz="1200" b="0" i="0">
                <a:solidFill>
                  <a:srgbClr val="94A3B8"/>
                </a:solidFill>
                <a:latin typeface="Calibri"/>
              </a:rPr>
              <a:t>Runs a fabric stall in Lagos Island Market. Eight years of trading, consistent weekly revenue, and loyal customers — but no bank has ever given her a loan. Without a payslip or credit history, she does not exist to the formal financial system.</a:t>
            </a:r>
          </a:p>
        </p:txBody>
      </p:sp>
      <p:sp>
        <p:nvSpPr>
          <p:cNvPr id="17" name="TextBox 16"/>
          <p:cNvSpPr txBox="1"/>
          <p:nvPr/>
        </p:nvSpPr>
        <p:spPr>
          <a:xfrm>
            <a:off x="804672" y="4873752"/>
            <a:ext cx="4837176" cy="621792"/>
          </a:xfrm>
          <a:prstGeom prst="rect">
            <a:avLst/>
          </a:prstGeom>
          <a:noFill/>
        </p:spPr>
        <p:txBody>
          <a:bodyPr wrap="square">
            <a:spAutoFit/>
          </a:bodyPr>
          <a:lstStyle/>
          <a:p>
            <a:pPr algn="l"/>
            <a:r>
              <a:rPr sz="1300" b="1" i="1">
                <a:solidFill>
                  <a:srgbClr val="F97316"/>
                </a:solidFill>
                <a:latin typeface="Calibri"/>
              </a:rPr>
              <a:t>"I work every single day. Why can't the bank see that?"</a:t>
            </a:r>
          </a:p>
        </p:txBody>
      </p:sp>
      <p:sp>
        <p:nvSpPr>
          <p:cNvPr id="18" name="TextBox 17"/>
          <p:cNvSpPr txBox="1"/>
          <p:nvPr/>
        </p:nvSpPr>
        <p:spPr>
          <a:xfrm>
            <a:off x="6656832" y="2221992"/>
            <a:ext cx="4837176" cy="502920"/>
          </a:xfrm>
          <a:prstGeom prst="rect">
            <a:avLst/>
          </a:prstGeom>
          <a:noFill/>
        </p:spPr>
        <p:txBody>
          <a:bodyPr wrap="square">
            <a:spAutoFit/>
          </a:bodyPr>
          <a:lstStyle/>
          <a:p>
            <a:pPr algn="l"/>
            <a:r>
              <a:rPr sz="2800" b="1" i="0">
                <a:solidFill>
                  <a:srgbClr val="FFFFFF"/>
                </a:solidFill>
                <a:latin typeface="Calibri"/>
              </a:rPr>
              <a:t>EMEKA</a:t>
            </a:r>
          </a:p>
        </p:txBody>
      </p:sp>
      <p:sp>
        <p:nvSpPr>
          <p:cNvPr id="19" name="TextBox 18"/>
          <p:cNvSpPr txBox="1"/>
          <p:nvPr/>
        </p:nvSpPr>
        <p:spPr>
          <a:xfrm>
            <a:off x="6656832" y="2715768"/>
            <a:ext cx="4837176" cy="320040"/>
          </a:xfrm>
          <a:prstGeom prst="rect">
            <a:avLst/>
          </a:prstGeom>
          <a:noFill/>
        </p:spPr>
        <p:txBody>
          <a:bodyPr wrap="square">
            <a:spAutoFit/>
          </a:bodyPr>
          <a:lstStyle/>
          <a:p>
            <a:pPr algn="l"/>
            <a:r>
              <a:rPr sz="1200" b="0" i="0">
                <a:solidFill>
                  <a:srgbClr val="F97316"/>
                </a:solidFill>
                <a:latin typeface="Calibri"/>
              </a:rPr>
              <a:t>26  ·  Gig Delivery Rider  ·  Abuja / FCT</a:t>
            </a:r>
          </a:p>
        </p:txBody>
      </p:sp>
      <p:sp>
        <p:nvSpPr>
          <p:cNvPr id="20" name="Rectangle 19"/>
          <p:cNvSpPr/>
          <p:nvPr/>
        </p:nvSpPr>
        <p:spPr>
          <a:xfrm>
            <a:off x="6656832" y="3081528"/>
            <a:ext cx="4837176"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3136392"/>
            <a:ext cx="4837176" cy="320040"/>
          </a:xfrm>
          <a:prstGeom prst="rect">
            <a:avLst/>
          </a:prstGeom>
          <a:noFill/>
        </p:spPr>
        <p:txBody>
          <a:bodyPr wrap="square">
            <a:spAutoFit/>
          </a:bodyPr>
          <a:lstStyle/>
          <a:p>
            <a:pPr algn="l"/>
            <a:r>
              <a:rPr sz="1000" b="0" i="0">
                <a:solidFill>
                  <a:srgbClr val="94A3B8"/>
                </a:solidFill>
                <a:latin typeface="Calibri"/>
              </a:rPr>
              <a:t>3 gig platforms   ·   ₦85K/month   ·   No verifiable record</a:t>
            </a:r>
          </a:p>
        </p:txBody>
      </p:sp>
      <p:sp>
        <p:nvSpPr>
          <p:cNvPr id="22" name="TextBox 21"/>
          <p:cNvSpPr txBox="1"/>
          <p:nvPr/>
        </p:nvSpPr>
        <p:spPr>
          <a:xfrm>
            <a:off x="6656832" y="3547872"/>
            <a:ext cx="4837176" cy="1234440"/>
          </a:xfrm>
          <a:prstGeom prst="rect">
            <a:avLst/>
          </a:prstGeom>
          <a:noFill/>
        </p:spPr>
        <p:txBody>
          <a:bodyPr wrap="square">
            <a:spAutoFit/>
          </a:bodyPr>
          <a:lstStyle/>
          <a:p>
            <a:pPr algn="l"/>
            <a:r>
              <a:rPr sz="1200" b="0" i="0">
                <a:solidFill>
                  <a:srgbClr val="94A3B8"/>
                </a:solidFill>
                <a:latin typeface="Calibri"/>
              </a:rPr>
              <a:t>Works across three delivery apps simultaneously. His income is real and consistent but fragmented across platforms — no single institution can see the full picture. Applied for a business loan to buy his own motorbike. Rejected. No credit history.</a:t>
            </a:r>
          </a:p>
        </p:txBody>
      </p:sp>
      <p:sp>
        <p:nvSpPr>
          <p:cNvPr id="23" name="TextBox 22"/>
          <p:cNvSpPr txBox="1"/>
          <p:nvPr/>
        </p:nvSpPr>
        <p:spPr>
          <a:xfrm>
            <a:off x="6656832" y="4873752"/>
            <a:ext cx="4837176" cy="621792"/>
          </a:xfrm>
          <a:prstGeom prst="rect">
            <a:avLst/>
          </a:prstGeom>
          <a:noFill/>
        </p:spPr>
        <p:txBody>
          <a:bodyPr wrap="square">
            <a:spAutoFit/>
          </a:bodyPr>
          <a:lstStyle/>
          <a:p>
            <a:pPr algn="l"/>
            <a:r>
              <a:rPr sz="1300" b="1" i="1">
                <a:solidFill>
                  <a:srgbClr val="F97316"/>
                </a:solidFill>
                <a:latin typeface="Calibri"/>
              </a:rPr>
              <a:t>"My skills are real. I just need a way to prove them."</a:t>
            </a:r>
          </a:p>
        </p:txBody>
      </p:sp>
      <p:sp>
        <p:nvSpPr>
          <p:cNvPr id="24" name="TextBox 23"/>
          <p:cNvSpPr txBox="1"/>
          <p:nvPr/>
        </p:nvSpPr>
        <p:spPr>
          <a:xfrm>
            <a:off x="548640" y="5687568"/>
            <a:ext cx="3657600" cy="475488"/>
          </a:xfrm>
          <a:prstGeom prst="rect">
            <a:avLst/>
          </a:prstGeom>
          <a:noFill/>
        </p:spPr>
        <p:txBody>
          <a:bodyPr wrap="square">
            <a:spAutoFit/>
          </a:bodyPr>
          <a:lstStyle/>
          <a:p>
            <a:pPr algn="l"/>
            <a:r>
              <a:rPr sz="2600" b="1" i="0">
                <a:solidFill>
                  <a:srgbClr val="FFFFFF"/>
                </a:solidFill>
                <a:latin typeface="Calibri"/>
              </a:rPr>
              <a:t>39M</a:t>
            </a:r>
          </a:p>
        </p:txBody>
      </p:sp>
      <p:sp>
        <p:nvSpPr>
          <p:cNvPr id="25" name="TextBox 24"/>
          <p:cNvSpPr txBox="1"/>
          <p:nvPr/>
        </p:nvSpPr>
        <p:spPr>
          <a:xfrm>
            <a:off x="548640" y="6144768"/>
            <a:ext cx="3657600" cy="320040"/>
          </a:xfrm>
          <a:prstGeom prst="rect">
            <a:avLst/>
          </a:prstGeom>
          <a:noFill/>
        </p:spPr>
        <p:txBody>
          <a:bodyPr wrap="square">
            <a:spAutoFit/>
          </a:bodyPr>
          <a:lstStyle/>
          <a:p>
            <a:pPr algn="l"/>
            <a:r>
              <a:rPr sz="1100" b="0" i="0">
                <a:solidFill>
                  <a:srgbClr val="94A3B8"/>
                </a:solidFill>
                <a:latin typeface="Calibri"/>
              </a:rPr>
              <a:t>informal workers in Nigeria</a:t>
            </a:r>
          </a:p>
        </p:txBody>
      </p:sp>
      <p:sp>
        <p:nvSpPr>
          <p:cNvPr id="26" name="TextBox 25"/>
          <p:cNvSpPr txBox="1"/>
          <p:nvPr/>
        </p:nvSpPr>
        <p:spPr>
          <a:xfrm>
            <a:off x="4425696" y="5687568"/>
            <a:ext cx="3657600" cy="475488"/>
          </a:xfrm>
          <a:prstGeom prst="rect">
            <a:avLst/>
          </a:prstGeom>
          <a:noFill/>
        </p:spPr>
        <p:txBody>
          <a:bodyPr wrap="square">
            <a:spAutoFit/>
          </a:bodyPr>
          <a:lstStyle/>
          <a:p>
            <a:pPr algn="l"/>
            <a:r>
              <a:rPr sz="2600" b="1" i="0">
                <a:solidFill>
                  <a:srgbClr val="FFFFFF"/>
                </a:solidFill>
                <a:latin typeface="Calibri"/>
              </a:rPr>
              <a:t>&lt;5%</a:t>
            </a:r>
          </a:p>
        </p:txBody>
      </p:sp>
      <p:sp>
        <p:nvSpPr>
          <p:cNvPr id="27" name="TextBox 26"/>
          <p:cNvSpPr txBox="1"/>
          <p:nvPr/>
        </p:nvSpPr>
        <p:spPr>
          <a:xfrm>
            <a:off x="4425696" y="6144768"/>
            <a:ext cx="3657600" cy="320040"/>
          </a:xfrm>
          <a:prstGeom prst="rect">
            <a:avLst/>
          </a:prstGeom>
          <a:noFill/>
        </p:spPr>
        <p:txBody>
          <a:bodyPr wrap="square">
            <a:spAutoFit/>
          </a:bodyPr>
          <a:lstStyle/>
          <a:p>
            <a:pPr algn="l"/>
            <a:r>
              <a:rPr sz="1100" b="0" i="0">
                <a:solidFill>
                  <a:srgbClr val="94A3B8"/>
                </a:solidFill>
                <a:latin typeface="Calibri"/>
              </a:rPr>
              <a:t>have access to formal credit</a:t>
            </a:r>
          </a:p>
        </p:txBody>
      </p:sp>
      <p:sp>
        <p:nvSpPr>
          <p:cNvPr id="28" name="TextBox 27"/>
          <p:cNvSpPr txBox="1"/>
          <p:nvPr/>
        </p:nvSpPr>
        <p:spPr>
          <a:xfrm>
            <a:off x="8302752" y="5687568"/>
            <a:ext cx="3657600" cy="475488"/>
          </a:xfrm>
          <a:prstGeom prst="rect">
            <a:avLst/>
          </a:prstGeom>
          <a:noFill/>
        </p:spPr>
        <p:txBody>
          <a:bodyPr wrap="square">
            <a:spAutoFit/>
          </a:bodyPr>
          <a:lstStyle/>
          <a:p>
            <a:pPr algn="l"/>
            <a:r>
              <a:rPr sz="2600" b="1" i="0">
                <a:solidFill>
                  <a:srgbClr val="FFFFFF"/>
                </a:solidFill>
                <a:latin typeface="Calibri"/>
              </a:rPr>
              <a:t>₦120K</a:t>
            </a:r>
          </a:p>
        </p:txBody>
      </p:sp>
      <p:sp>
        <p:nvSpPr>
          <p:cNvPr id="29" name="TextBox 28"/>
          <p:cNvSpPr txBox="1"/>
          <p:nvPr/>
        </p:nvSpPr>
        <p:spPr>
          <a:xfrm>
            <a:off x="8302752" y="6144768"/>
            <a:ext cx="3657600" cy="320040"/>
          </a:xfrm>
          <a:prstGeom prst="rect">
            <a:avLst/>
          </a:prstGeom>
          <a:noFill/>
        </p:spPr>
        <p:txBody>
          <a:bodyPr wrap="square">
            <a:spAutoFit/>
          </a:bodyPr>
          <a:lstStyle/>
          <a:p>
            <a:pPr algn="l"/>
            <a:r>
              <a:rPr sz="1100" b="0" i="0">
                <a:solidFill>
                  <a:srgbClr val="94A3B8"/>
                </a:solidFill>
                <a:latin typeface="Calibri"/>
              </a:rPr>
              <a:t>average monthly informal income</a:t>
            </a:r>
          </a:p>
        </p:txBody>
      </p:sp>
      <p:sp>
        <p:nvSpPr>
          <p:cNvPr id="30" name="TextBox 29"/>
          <p:cNvSpPr txBox="1"/>
          <p:nvPr/>
        </p:nvSpPr>
        <p:spPr>
          <a:xfrm>
            <a:off x="548640" y="6583680"/>
            <a:ext cx="10972800" cy="274320"/>
          </a:xfrm>
          <a:prstGeom prst="rect">
            <a:avLst/>
          </a:prstGeom>
          <a:noFill/>
        </p:spPr>
        <p:txBody>
          <a:bodyPr wrap="square">
            <a:spAutoFit/>
          </a:bodyPr>
          <a:lstStyle/>
          <a:p>
            <a:pPr algn="l"/>
            <a:r>
              <a:rPr sz="800" b="0" i="0">
                <a:solidFill>
                  <a:srgbClr val="445570"/>
                </a:solidFill>
                <a:latin typeface="Calibri"/>
              </a:rPr>
              <a:t>Source: ILO Informal Economy Report 2023  ·  EFInA Access to Financial Services Nigeria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03  —  SOLUTION OVERVIEW</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9144000" cy="685800"/>
          </a:xfrm>
          <a:prstGeom prst="rect">
            <a:avLst/>
          </a:prstGeom>
          <a:noFill/>
        </p:spPr>
        <p:txBody>
          <a:bodyPr wrap="square">
            <a:spAutoFit/>
          </a:bodyPr>
          <a:lstStyle/>
          <a:p>
            <a:pPr algn="l"/>
            <a:r>
              <a:rPr sz="3800" b="1" i="0">
                <a:solidFill>
                  <a:srgbClr val="FFFFFF"/>
                </a:solidFill>
                <a:latin typeface="Calibri"/>
              </a:rPr>
              <a:t>One Platform. Four Engines.</a:t>
            </a:r>
          </a:p>
        </p:txBody>
      </p:sp>
      <p:sp>
        <p:nvSpPr>
          <p:cNvPr id="7" name="TextBox 6"/>
          <p:cNvSpPr txBox="1"/>
          <p:nvPr/>
        </p:nvSpPr>
        <p:spPr>
          <a:xfrm>
            <a:off x="548640" y="1463040"/>
            <a:ext cx="11064240" cy="457200"/>
          </a:xfrm>
          <a:prstGeom prst="rect">
            <a:avLst/>
          </a:prstGeom>
          <a:noFill/>
        </p:spPr>
        <p:txBody>
          <a:bodyPr wrap="square">
            <a:spAutoFit/>
          </a:bodyPr>
          <a:lstStyle/>
          <a:p>
            <a:pPr algn="l"/>
            <a:r>
              <a:rPr sz="1300" b="0" i="0">
                <a:solidFill>
                  <a:srgbClr val="94A3B8"/>
                </a:solidFill>
                <a:latin typeface="Calibri"/>
              </a:rPr>
              <a:t>Trace turns every transaction, gig, and peer interaction into a verified economic signal — building the digital identity that unlocks financial services for the people who have always been excluded.</a:t>
            </a:r>
          </a:p>
        </p:txBody>
      </p:sp>
      <p:sp>
        <p:nvSpPr>
          <p:cNvPr id="8" name="Rectangle 7"/>
          <p:cNvSpPr/>
          <p:nvPr/>
        </p:nvSpPr>
        <p:spPr>
          <a:xfrm>
            <a:off x="548640" y="2011680"/>
            <a:ext cx="534924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1680"/>
            <a:ext cx="53492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148840"/>
            <a:ext cx="4983480" cy="365760"/>
          </a:xfrm>
          <a:prstGeom prst="rect">
            <a:avLst/>
          </a:prstGeom>
          <a:noFill/>
        </p:spPr>
        <p:txBody>
          <a:bodyPr wrap="square">
            <a:spAutoFit/>
          </a:bodyPr>
          <a:lstStyle/>
          <a:p>
            <a:pPr algn="l"/>
            <a:r>
              <a:rPr sz="1200" b="1" i="0">
                <a:solidFill>
                  <a:srgbClr val="F97316"/>
                </a:solidFill>
                <a:latin typeface="Calibri"/>
              </a:rPr>
              <a:t>01  /  Digital Onboarding</a:t>
            </a:r>
          </a:p>
        </p:txBody>
      </p:sp>
      <p:sp>
        <p:nvSpPr>
          <p:cNvPr id="11" name="TextBox 10"/>
          <p:cNvSpPr txBox="1"/>
          <p:nvPr/>
        </p:nvSpPr>
        <p:spPr>
          <a:xfrm>
            <a:off x="777240" y="2514600"/>
            <a:ext cx="4983480" cy="1508760"/>
          </a:xfrm>
          <a:prstGeom prst="rect">
            <a:avLst/>
          </a:prstGeom>
          <a:noFill/>
        </p:spPr>
        <p:txBody>
          <a:bodyPr wrap="square">
            <a:spAutoFit/>
          </a:bodyPr>
          <a:lstStyle/>
          <a:p>
            <a:pPr algn="l"/>
            <a:r>
              <a:rPr sz="1200" b="0" i="0">
                <a:solidFill>
                  <a:srgbClr val="94A3B8"/>
                </a:solidFill>
                <a:latin typeface="Calibri"/>
              </a:rPr>
              <a:t>Phone-first, 3-minute signup. Name, skills, trade category, location, and preferred language. Data-sharing consent captured upfront. A Squad virtual account is auto-generated on completion — every user has a verified payment identity from minute one.</a:t>
            </a:r>
          </a:p>
        </p:txBody>
      </p:sp>
      <p:sp>
        <p:nvSpPr>
          <p:cNvPr id="12" name="Rectangle 11"/>
          <p:cNvSpPr/>
          <p:nvPr/>
        </p:nvSpPr>
        <p:spPr>
          <a:xfrm>
            <a:off x="6309360" y="2011680"/>
            <a:ext cx="534924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2011680"/>
            <a:ext cx="53492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2148840"/>
            <a:ext cx="4983480" cy="365760"/>
          </a:xfrm>
          <a:prstGeom prst="rect">
            <a:avLst/>
          </a:prstGeom>
          <a:noFill/>
        </p:spPr>
        <p:txBody>
          <a:bodyPr wrap="square">
            <a:spAutoFit/>
          </a:bodyPr>
          <a:lstStyle/>
          <a:p>
            <a:pPr algn="l"/>
            <a:r>
              <a:rPr sz="1200" b="1" i="0">
                <a:solidFill>
                  <a:srgbClr val="F97316"/>
                </a:solidFill>
                <a:latin typeface="Calibri"/>
              </a:rPr>
              <a:t>02  /  Economic Identity Score</a:t>
            </a:r>
          </a:p>
        </p:txBody>
      </p:sp>
      <p:sp>
        <p:nvSpPr>
          <p:cNvPr id="15" name="TextBox 14"/>
          <p:cNvSpPr txBox="1"/>
          <p:nvPr/>
        </p:nvSpPr>
        <p:spPr>
          <a:xfrm>
            <a:off x="6537960" y="2514600"/>
            <a:ext cx="4983480" cy="1508760"/>
          </a:xfrm>
          <a:prstGeom prst="rect">
            <a:avLst/>
          </a:prstGeom>
          <a:noFill/>
        </p:spPr>
        <p:txBody>
          <a:bodyPr wrap="square">
            <a:spAutoFit/>
          </a:bodyPr>
          <a:lstStyle/>
          <a:p>
            <a:pPr algn="l"/>
            <a:r>
              <a:rPr sz="1200" b="0" i="0">
                <a:solidFill>
                  <a:srgbClr val="94A3B8"/>
                </a:solidFill>
                <a:latin typeface="Calibri"/>
              </a:rPr>
              <a:t>AI-powered 0–100 score built from four signals: transaction history (40%), peer vouches (25%), platform activity (20%), and profile completeness (15%). Calculated by a Python AI service via gRPC and updated automatically after every Squad transaction and gig completion.</a:t>
            </a:r>
          </a:p>
        </p:txBody>
      </p:sp>
      <p:sp>
        <p:nvSpPr>
          <p:cNvPr id="16" name="Rectangle 15"/>
          <p:cNvSpPr/>
          <p:nvPr/>
        </p:nvSpPr>
        <p:spPr>
          <a:xfrm>
            <a:off x="548640" y="4297680"/>
            <a:ext cx="534924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297680"/>
            <a:ext cx="53492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434840"/>
            <a:ext cx="4983480" cy="365760"/>
          </a:xfrm>
          <a:prstGeom prst="rect">
            <a:avLst/>
          </a:prstGeom>
          <a:noFill/>
        </p:spPr>
        <p:txBody>
          <a:bodyPr wrap="square">
            <a:spAutoFit/>
          </a:bodyPr>
          <a:lstStyle/>
          <a:p>
            <a:pPr algn="l"/>
            <a:r>
              <a:rPr sz="1200" b="1" i="0">
                <a:solidFill>
                  <a:srgbClr val="F97316"/>
                </a:solidFill>
                <a:latin typeface="Calibri"/>
              </a:rPr>
              <a:t>03  /  Opportunity Marketplace</a:t>
            </a:r>
          </a:p>
        </p:txBody>
      </p:sp>
      <p:sp>
        <p:nvSpPr>
          <p:cNvPr id="19" name="TextBox 18"/>
          <p:cNvSpPr txBox="1"/>
          <p:nvPr/>
        </p:nvSpPr>
        <p:spPr>
          <a:xfrm>
            <a:off x="777240" y="4800600"/>
            <a:ext cx="4983480" cy="1508760"/>
          </a:xfrm>
          <a:prstGeom prst="rect">
            <a:avLst/>
          </a:prstGeom>
          <a:noFill/>
        </p:spPr>
        <p:txBody>
          <a:bodyPr wrap="square">
            <a:spAutoFit/>
          </a:bodyPr>
          <a:lstStyle/>
          <a:p>
            <a:pPr algn="l"/>
            <a:r>
              <a:rPr sz="1200" b="0" i="0">
                <a:solidFill>
                  <a:srgbClr val="94A3B8"/>
                </a:solidFill>
                <a:latin typeface="Calibri"/>
              </a:rPr>
              <a:t>AI matches gig workers and job seekers to opportunities using skill overlap (40%), proximity (25%), historical success rate (20%), and language match (15%). Employer payments are locked in Squad escrow before the gig starts — trust built into every transaction by design.</a:t>
            </a:r>
          </a:p>
        </p:txBody>
      </p:sp>
      <p:sp>
        <p:nvSpPr>
          <p:cNvPr id="20" name="Rectangle 19"/>
          <p:cNvSpPr/>
          <p:nvPr/>
        </p:nvSpPr>
        <p:spPr>
          <a:xfrm>
            <a:off x="6309360" y="4297680"/>
            <a:ext cx="534924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4297680"/>
            <a:ext cx="53492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4434840"/>
            <a:ext cx="4983480" cy="365760"/>
          </a:xfrm>
          <a:prstGeom prst="rect">
            <a:avLst/>
          </a:prstGeom>
          <a:noFill/>
        </p:spPr>
        <p:txBody>
          <a:bodyPr wrap="square">
            <a:spAutoFit/>
          </a:bodyPr>
          <a:lstStyle/>
          <a:p>
            <a:pPr algn="l"/>
            <a:r>
              <a:rPr sz="1200" b="1" i="0">
                <a:solidFill>
                  <a:srgbClr val="F97316"/>
                </a:solidFill>
                <a:latin typeface="Calibri"/>
              </a:rPr>
              <a:t>04  /  Finance Gateway</a:t>
            </a:r>
          </a:p>
        </p:txBody>
      </p:sp>
      <p:sp>
        <p:nvSpPr>
          <p:cNvPr id="23" name="TextBox 22"/>
          <p:cNvSpPr txBox="1"/>
          <p:nvPr/>
        </p:nvSpPr>
        <p:spPr>
          <a:xfrm>
            <a:off x="6537960" y="4800600"/>
            <a:ext cx="4983480" cy="1508760"/>
          </a:xfrm>
          <a:prstGeom prst="rect">
            <a:avLst/>
          </a:prstGeom>
          <a:noFill/>
        </p:spPr>
        <p:txBody>
          <a:bodyPr wrap="square">
            <a:spAutoFit/>
          </a:bodyPr>
          <a:lstStyle/>
          <a:p>
            <a:pPr algn="l"/>
            <a:r>
              <a:rPr sz="1200" b="0" i="0">
                <a:solidFill>
                  <a:srgbClr val="94A3B8"/>
                </a:solidFill>
                <a:latin typeface="Calibri"/>
              </a:rPr>
              <a:t>Score unlocks partner financial products: micro-loans (₦50K–₦500K), savings plans, and business insurance — offered by licensed microfinance institutions who query the Trace Partner API. Approved funds are disbursed directly to the user's Squad virtual account.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04  —  SQUAD API INTEGRATION</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10058400" cy="685800"/>
          </a:xfrm>
          <a:prstGeom prst="rect">
            <a:avLst/>
          </a:prstGeom>
          <a:noFill/>
        </p:spPr>
        <p:txBody>
          <a:bodyPr wrap="square">
            <a:spAutoFit/>
          </a:bodyPr>
          <a:lstStyle/>
          <a:p>
            <a:pPr algn="l"/>
            <a:r>
              <a:rPr sz="3600" b="1" i="0">
                <a:solidFill>
                  <a:srgbClr val="FFFFFF"/>
                </a:solidFill>
                <a:latin typeface="Calibri"/>
              </a:rPr>
              <a:t>Squad Isn't a Feature. It's the Foundation.</a:t>
            </a:r>
          </a:p>
        </p:txBody>
      </p:sp>
      <p:sp>
        <p:nvSpPr>
          <p:cNvPr id="7" name="TextBox 6"/>
          <p:cNvSpPr txBox="1"/>
          <p:nvPr/>
        </p:nvSpPr>
        <p:spPr>
          <a:xfrm>
            <a:off x="548640" y="1463040"/>
            <a:ext cx="11064240" cy="457200"/>
          </a:xfrm>
          <a:prstGeom prst="rect">
            <a:avLst/>
          </a:prstGeom>
          <a:noFill/>
        </p:spPr>
        <p:txBody>
          <a:bodyPr wrap="square">
            <a:spAutoFit/>
          </a:bodyPr>
          <a:lstStyle/>
          <a:p>
            <a:pPr algn="l"/>
            <a:r>
              <a:rPr sz="1300" b="0" i="0">
                <a:solidFill>
                  <a:srgbClr val="94A3B8"/>
                </a:solidFill>
                <a:latin typeface="Calibri"/>
              </a:rPr>
              <a:t>Every critical flow on Trace runs through Squad. Remove Squad, and the platform loses its ability to verify identity, capture economic signals, and disburse financial products.</a:t>
            </a:r>
          </a:p>
        </p:txBody>
      </p:sp>
      <p:sp>
        <p:nvSpPr>
          <p:cNvPr id="8" name="Rectangle 7"/>
          <p:cNvSpPr/>
          <p:nvPr/>
        </p:nvSpPr>
        <p:spPr>
          <a:xfrm>
            <a:off x="548640" y="2011680"/>
            <a:ext cx="3429000" cy="34747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168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176272"/>
            <a:ext cx="3063240" cy="457200"/>
          </a:xfrm>
          <a:prstGeom prst="rect">
            <a:avLst/>
          </a:prstGeom>
          <a:noFill/>
        </p:spPr>
        <p:txBody>
          <a:bodyPr wrap="square">
            <a:spAutoFit/>
          </a:bodyPr>
          <a:lstStyle/>
          <a:p>
            <a:pPr algn="l"/>
            <a:r>
              <a:rPr sz="2800" b="1" i="0">
                <a:solidFill>
                  <a:srgbClr val="F97316"/>
                </a:solidFill>
                <a:latin typeface="Calibri"/>
              </a:rPr>
              <a:t>01</a:t>
            </a:r>
          </a:p>
        </p:txBody>
      </p:sp>
      <p:sp>
        <p:nvSpPr>
          <p:cNvPr id="11" name="TextBox 10"/>
          <p:cNvSpPr txBox="1"/>
          <p:nvPr/>
        </p:nvSpPr>
        <p:spPr>
          <a:xfrm>
            <a:off x="777240" y="2633472"/>
            <a:ext cx="3063240" cy="365760"/>
          </a:xfrm>
          <a:prstGeom prst="rect">
            <a:avLst/>
          </a:prstGeom>
          <a:noFill/>
        </p:spPr>
        <p:txBody>
          <a:bodyPr wrap="square">
            <a:spAutoFit/>
          </a:bodyPr>
          <a:lstStyle/>
          <a:p>
            <a:pPr algn="l"/>
            <a:r>
              <a:rPr sz="1600" b="1" i="0">
                <a:solidFill>
                  <a:srgbClr val="FFFFFF"/>
                </a:solidFill>
                <a:latin typeface="Calibri"/>
              </a:rPr>
              <a:t>Virtual Accounts</a:t>
            </a:r>
          </a:p>
        </p:txBody>
      </p:sp>
      <p:sp>
        <p:nvSpPr>
          <p:cNvPr id="12" name="TextBox 11"/>
          <p:cNvSpPr txBox="1"/>
          <p:nvPr/>
        </p:nvSpPr>
        <p:spPr>
          <a:xfrm>
            <a:off x="777240" y="3035808"/>
            <a:ext cx="3063240" cy="1664208"/>
          </a:xfrm>
          <a:prstGeom prst="rect">
            <a:avLst/>
          </a:prstGeom>
          <a:noFill/>
        </p:spPr>
        <p:txBody>
          <a:bodyPr wrap="square">
            <a:spAutoFit/>
          </a:bodyPr>
          <a:lstStyle/>
          <a:p>
            <a:pPr algn="l"/>
            <a:r>
              <a:rPr sz="1200" b="0" i="0">
                <a:solidFill>
                  <a:srgbClr val="94A3B8"/>
                </a:solidFill>
                <a:latin typeface="Calibri"/>
              </a:rPr>
              <a:t>Every user receives a Squad-powered Wema Bank virtual account the moment they complete onboarding. This is their economic home — where payments arrive, escrow funds are released, and loan disbursements land. All transaction history is captured here.</a:t>
            </a:r>
          </a:p>
        </p:txBody>
      </p:sp>
      <p:sp>
        <p:nvSpPr>
          <p:cNvPr id="13" name="Rectangle 12"/>
          <p:cNvSpPr/>
          <p:nvPr/>
        </p:nvSpPr>
        <p:spPr>
          <a:xfrm>
            <a:off x="777240" y="4864608"/>
            <a:ext cx="3063240" cy="530352"/>
          </a:xfrm>
          <a:prstGeom prst="rect">
            <a:avLst/>
          </a:prstGeom>
          <a:solidFill>
            <a:srgbClr val="060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910328"/>
            <a:ext cx="2926080" cy="484632"/>
          </a:xfrm>
          <a:prstGeom prst="rect">
            <a:avLst/>
          </a:prstGeom>
          <a:noFill/>
        </p:spPr>
        <p:txBody>
          <a:bodyPr wrap="square">
            <a:spAutoFit/>
          </a:bodyPr>
          <a:lstStyle/>
          <a:p>
            <a:pPr algn="l"/>
            <a:r>
              <a:rPr sz="900" b="1" i="0">
                <a:solidFill>
                  <a:srgbClr val="F97316"/>
                </a:solidFill>
                <a:latin typeface="Calibri"/>
              </a:rPr>
              <a:t>POST /squad/my-virtual-account</a:t>
            </a:r>
          </a:p>
        </p:txBody>
      </p:sp>
      <p:sp>
        <p:nvSpPr>
          <p:cNvPr id="15" name="Rectangle 14"/>
          <p:cNvSpPr/>
          <p:nvPr/>
        </p:nvSpPr>
        <p:spPr>
          <a:xfrm>
            <a:off x="4343400" y="2011680"/>
            <a:ext cx="3429000" cy="34747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201168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2176272"/>
            <a:ext cx="3063240" cy="457200"/>
          </a:xfrm>
          <a:prstGeom prst="rect">
            <a:avLst/>
          </a:prstGeom>
          <a:noFill/>
        </p:spPr>
        <p:txBody>
          <a:bodyPr wrap="square">
            <a:spAutoFit/>
          </a:bodyPr>
          <a:lstStyle/>
          <a:p>
            <a:pPr algn="l"/>
            <a:r>
              <a:rPr sz="2800" b="1" i="0">
                <a:solidFill>
                  <a:srgbClr val="F97316"/>
                </a:solidFill>
                <a:latin typeface="Calibri"/>
              </a:rPr>
              <a:t>02</a:t>
            </a:r>
          </a:p>
        </p:txBody>
      </p:sp>
      <p:sp>
        <p:nvSpPr>
          <p:cNvPr id="18" name="TextBox 17"/>
          <p:cNvSpPr txBox="1"/>
          <p:nvPr/>
        </p:nvSpPr>
        <p:spPr>
          <a:xfrm>
            <a:off x="4572000" y="2633472"/>
            <a:ext cx="3063240" cy="365760"/>
          </a:xfrm>
          <a:prstGeom prst="rect">
            <a:avLst/>
          </a:prstGeom>
          <a:noFill/>
        </p:spPr>
        <p:txBody>
          <a:bodyPr wrap="square">
            <a:spAutoFit/>
          </a:bodyPr>
          <a:lstStyle/>
          <a:p>
            <a:pPr algn="l"/>
            <a:r>
              <a:rPr sz="1600" b="1" i="0">
                <a:solidFill>
                  <a:srgbClr val="FFFFFF"/>
                </a:solidFill>
                <a:latin typeface="Calibri"/>
              </a:rPr>
              <a:t>Escrow &amp; Transfers</a:t>
            </a:r>
          </a:p>
        </p:txBody>
      </p:sp>
      <p:sp>
        <p:nvSpPr>
          <p:cNvPr id="19" name="TextBox 18"/>
          <p:cNvSpPr txBox="1"/>
          <p:nvPr/>
        </p:nvSpPr>
        <p:spPr>
          <a:xfrm>
            <a:off x="4572000" y="3035808"/>
            <a:ext cx="3063240" cy="1664208"/>
          </a:xfrm>
          <a:prstGeom prst="rect">
            <a:avLst/>
          </a:prstGeom>
          <a:noFill/>
        </p:spPr>
        <p:txBody>
          <a:bodyPr wrap="square">
            <a:spAutoFit/>
          </a:bodyPr>
          <a:lstStyle/>
          <a:p>
            <a:pPr algn="l"/>
            <a:r>
              <a:rPr sz="1200" b="0" i="0">
                <a:solidFill>
                  <a:srgbClr val="94A3B8"/>
                </a:solidFill>
                <a:latin typeface="Calibri"/>
              </a:rPr>
              <a:t>When a gig is accepted, the employer's payment is locked in Squad escrow before the worker starts. Trace calls Squad to release only on confirmed completion — zero trust required between two strangers meeting for the first time.</a:t>
            </a:r>
          </a:p>
        </p:txBody>
      </p:sp>
      <p:sp>
        <p:nvSpPr>
          <p:cNvPr id="20" name="Rectangle 19"/>
          <p:cNvSpPr/>
          <p:nvPr/>
        </p:nvSpPr>
        <p:spPr>
          <a:xfrm>
            <a:off x="4572000" y="4864608"/>
            <a:ext cx="3063240" cy="530352"/>
          </a:xfrm>
          <a:prstGeom prst="rect">
            <a:avLst/>
          </a:prstGeom>
          <a:solidFill>
            <a:srgbClr val="060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4910328"/>
            <a:ext cx="2926080" cy="484632"/>
          </a:xfrm>
          <a:prstGeom prst="rect">
            <a:avLst/>
          </a:prstGeom>
          <a:noFill/>
        </p:spPr>
        <p:txBody>
          <a:bodyPr wrap="square">
            <a:spAutoFit/>
          </a:bodyPr>
          <a:lstStyle/>
          <a:p>
            <a:pPr algn="l"/>
            <a:r>
              <a:rPr sz="900" b="1" i="0">
                <a:solidFill>
                  <a:srgbClr val="F97316"/>
                </a:solidFill>
                <a:latin typeface="Calibri"/>
              </a:rPr>
              <a:t>POST /squad/escrow/:id/lock
POST /squad/escrow/:id/release</a:t>
            </a:r>
          </a:p>
        </p:txBody>
      </p:sp>
      <p:sp>
        <p:nvSpPr>
          <p:cNvPr id="22" name="Rectangle 21"/>
          <p:cNvSpPr/>
          <p:nvPr/>
        </p:nvSpPr>
        <p:spPr>
          <a:xfrm>
            <a:off x="8138160" y="2011680"/>
            <a:ext cx="3429000" cy="34747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201168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176272"/>
            <a:ext cx="3063240" cy="457200"/>
          </a:xfrm>
          <a:prstGeom prst="rect">
            <a:avLst/>
          </a:prstGeom>
          <a:noFill/>
        </p:spPr>
        <p:txBody>
          <a:bodyPr wrap="square">
            <a:spAutoFit/>
          </a:bodyPr>
          <a:lstStyle/>
          <a:p>
            <a:pPr algn="l"/>
            <a:r>
              <a:rPr sz="2800" b="1" i="0">
                <a:solidFill>
                  <a:srgbClr val="F97316"/>
                </a:solidFill>
                <a:latin typeface="Calibri"/>
              </a:rPr>
              <a:t>03</a:t>
            </a:r>
          </a:p>
        </p:txBody>
      </p:sp>
      <p:sp>
        <p:nvSpPr>
          <p:cNvPr id="25" name="TextBox 24"/>
          <p:cNvSpPr txBox="1"/>
          <p:nvPr/>
        </p:nvSpPr>
        <p:spPr>
          <a:xfrm>
            <a:off x="8366760" y="2633472"/>
            <a:ext cx="3063240" cy="365760"/>
          </a:xfrm>
          <a:prstGeom prst="rect">
            <a:avLst/>
          </a:prstGeom>
          <a:noFill/>
        </p:spPr>
        <p:txBody>
          <a:bodyPr wrap="square">
            <a:spAutoFit/>
          </a:bodyPr>
          <a:lstStyle/>
          <a:p>
            <a:pPr algn="l"/>
            <a:r>
              <a:rPr sz="1600" b="1" i="0">
                <a:solidFill>
                  <a:srgbClr val="FFFFFF"/>
                </a:solidFill>
                <a:latin typeface="Calibri"/>
              </a:rPr>
              <a:t>Webhooks &amp; Verification</a:t>
            </a:r>
          </a:p>
        </p:txBody>
      </p:sp>
      <p:sp>
        <p:nvSpPr>
          <p:cNvPr id="26" name="TextBox 25"/>
          <p:cNvSpPr txBox="1"/>
          <p:nvPr/>
        </p:nvSpPr>
        <p:spPr>
          <a:xfrm>
            <a:off x="8366760" y="3035808"/>
            <a:ext cx="3063240" cy="1664208"/>
          </a:xfrm>
          <a:prstGeom prst="rect">
            <a:avLst/>
          </a:prstGeom>
          <a:noFill/>
        </p:spPr>
        <p:txBody>
          <a:bodyPr wrap="square">
            <a:spAutoFit/>
          </a:bodyPr>
          <a:lstStyle/>
          <a:p>
            <a:pPr algn="l"/>
            <a:r>
              <a:rPr sz="1200" b="0" i="0">
                <a:solidFill>
                  <a:srgbClr val="94A3B8"/>
                </a:solidFill>
                <a:latin typeface="Calibri"/>
              </a:rPr>
              <a:t>Squad fires a signed webhook on every completed payment. Trace validates the signature, records the transaction to the database, and queues a score recalculation via BullMQ into the Python gRPC service. Every payment makes the user more creditworthy.</a:t>
            </a:r>
          </a:p>
        </p:txBody>
      </p:sp>
      <p:sp>
        <p:nvSpPr>
          <p:cNvPr id="27" name="Rectangle 26"/>
          <p:cNvSpPr/>
          <p:nvPr/>
        </p:nvSpPr>
        <p:spPr>
          <a:xfrm>
            <a:off x="8366760" y="4864608"/>
            <a:ext cx="3063240" cy="530352"/>
          </a:xfrm>
          <a:prstGeom prst="rect">
            <a:avLst/>
          </a:prstGeom>
          <a:solidFill>
            <a:srgbClr val="060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58200" y="4910328"/>
            <a:ext cx="2926080" cy="484632"/>
          </a:xfrm>
          <a:prstGeom prst="rect">
            <a:avLst/>
          </a:prstGeom>
          <a:noFill/>
        </p:spPr>
        <p:txBody>
          <a:bodyPr wrap="square">
            <a:spAutoFit/>
          </a:bodyPr>
          <a:lstStyle/>
          <a:p>
            <a:pPr algn="l"/>
            <a:r>
              <a:rPr sz="900" b="1" i="0">
                <a:solidFill>
                  <a:srgbClr val="F97316"/>
                </a:solidFill>
                <a:latin typeface="Calibri"/>
              </a:rPr>
              <a:t>POST /webhooks/squad
GET  /squad/transactions/verify/:ref</a:t>
            </a:r>
          </a:p>
        </p:txBody>
      </p:sp>
      <p:sp>
        <p:nvSpPr>
          <p:cNvPr id="29" name="Rectangle 28"/>
          <p:cNvSpPr/>
          <p:nvPr/>
        </p:nvSpPr>
        <p:spPr>
          <a:xfrm>
            <a:off x="548640" y="5669280"/>
            <a:ext cx="11064240" cy="658368"/>
          </a:xfrm>
          <a:prstGeom prst="rect">
            <a:avLst/>
          </a:prstGeom>
          <a:solidFill>
            <a:srgbClr val="0A1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669280"/>
            <a:ext cx="45720" cy="658368"/>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733288"/>
            <a:ext cx="10607040" cy="548640"/>
          </a:xfrm>
          <a:prstGeom prst="rect">
            <a:avLst/>
          </a:prstGeom>
          <a:noFill/>
        </p:spPr>
        <p:txBody>
          <a:bodyPr wrap="square">
            <a:spAutoFit/>
          </a:bodyPr>
          <a:lstStyle/>
          <a:p>
            <a:pPr algn="l"/>
            <a:r>
              <a:rPr sz="1200" b="0" i="0">
                <a:solidFill>
                  <a:srgbClr val="FFFFFF"/>
                </a:solidFill>
                <a:latin typeface="Calibri"/>
              </a:rPr>
              <a:t>Judges' note: Squad powers virtual account creation, escrow lock/release, webhook-driven score recalculation, and financial product disbursement. This is not a token integration — Squad is the verified data spine of Trace.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05  —  AI &amp; DATA INTELLIGENCE</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8229600" cy="685800"/>
          </a:xfrm>
          <a:prstGeom prst="rect">
            <a:avLst/>
          </a:prstGeom>
          <a:noFill/>
        </p:spPr>
        <p:txBody>
          <a:bodyPr wrap="square">
            <a:spAutoFit/>
          </a:bodyPr>
          <a:lstStyle/>
          <a:p>
            <a:pPr algn="l"/>
            <a:r>
              <a:rPr sz="3800" b="1" i="0">
                <a:solidFill>
                  <a:srgbClr val="FFFFFF"/>
                </a:solidFill>
                <a:latin typeface="Calibri"/>
              </a:rPr>
              <a:t>A Score That Grows With You</a:t>
            </a:r>
          </a:p>
        </p:txBody>
      </p:sp>
      <p:sp>
        <p:nvSpPr>
          <p:cNvPr id="7" name="TextBox 6"/>
          <p:cNvSpPr txBox="1"/>
          <p:nvPr/>
        </p:nvSpPr>
        <p:spPr>
          <a:xfrm>
            <a:off x="548640" y="1463040"/>
            <a:ext cx="11064240" cy="457200"/>
          </a:xfrm>
          <a:prstGeom prst="rect">
            <a:avLst/>
          </a:prstGeom>
          <a:noFill/>
        </p:spPr>
        <p:txBody>
          <a:bodyPr wrap="square">
            <a:spAutoFit/>
          </a:bodyPr>
          <a:lstStyle/>
          <a:p>
            <a:pPr algn="l"/>
            <a:r>
              <a:rPr sz="1300" b="0" i="0">
                <a:solidFill>
                  <a:srgbClr val="94A3B8"/>
                </a:solidFill>
                <a:latin typeface="Calibri"/>
              </a:rPr>
              <a:t>The Economic Identity Score is calculated by a Python AI microservice via gRPC — never manually set. It updates automatically after every Squad transaction, gig, and peer vouch.</a:t>
            </a:r>
          </a:p>
        </p:txBody>
      </p:sp>
      <p:sp>
        <p:nvSpPr>
          <p:cNvPr id="8" name="Rectangle 7"/>
          <p:cNvSpPr/>
          <p:nvPr/>
        </p:nvSpPr>
        <p:spPr>
          <a:xfrm>
            <a:off x="548640" y="1965960"/>
            <a:ext cx="5303520" cy="434340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65960"/>
            <a:ext cx="530352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48840"/>
            <a:ext cx="4754880" cy="347472"/>
          </a:xfrm>
          <a:prstGeom prst="rect">
            <a:avLst/>
          </a:prstGeom>
          <a:noFill/>
        </p:spPr>
        <p:txBody>
          <a:bodyPr wrap="square">
            <a:spAutoFit/>
          </a:bodyPr>
          <a:lstStyle/>
          <a:p>
            <a:pPr algn="l"/>
            <a:r>
              <a:rPr sz="1100" b="1" i="0">
                <a:solidFill>
                  <a:srgbClr val="F97316"/>
                </a:solidFill>
                <a:latin typeface="Calibri"/>
              </a:rPr>
              <a:t>IDENTITY SCORE</a:t>
            </a:r>
          </a:p>
        </p:txBody>
      </p:sp>
      <p:sp>
        <p:nvSpPr>
          <p:cNvPr id="11" name="TextBox 10"/>
          <p:cNvSpPr txBox="1"/>
          <p:nvPr/>
        </p:nvSpPr>
        <p:spPr>
          <a:xfrm>
            <a:off x="822960" y="2450592"/>
            <a:ext cx="2560320" cy="1234440"/>
          </a:xfrm>
          <a:prstGeom prst="rect">
            <a:avLst/>
          </a:prstGeom>
          <a:noFill/>
        </p:spPr>
        <p:txBody>
          <a:bodyPr wrap="square">
            <a:spAutoFit/>
          </a:bodyPr>
          <a:lstStyle/>
          <a:p>
            <a:pPr algn="l"/>
            <a:r>
              <a:rPr sz="8800" b="1" i="0">
                <a:solidFill>
                  <a:srgbClr val="FFFFFF"/>
                </a:solidFill>
                <a:latin typeface="Calibri"/>
              </a:rPr>
              <a:t>73</a:t>
            </a:r>
          </a:p>
        </p:txBody>
      </p:sp>
      <p:sp>
        <p:nvSpPr>
          <p:cNvPr id="12" name="TextBox 11"/>
          <p:cNvSpPr txBox="1"/>
          <p:nvPr/>
        </p:nvSpPr>
        <p:spPr>
          <a:xfrm>
            <a:off x="2697480" y="3017520"/>
            <a:ext cx="1371600" cy="502920"/>
          </a:xfrm>
          <a:prstGeom prst="rect">
            <a:avLst/>
          </a:prstGeom>
          <a:noFill/>
        </p:spPr>
        <p:txBody>
          <a:bodyPr wrap="square">
            <a:spAutoFit/>
          </a:bodyPr>
          <a:lstStyle/>
          <a:p>
            <a:pPr algn="l"/>
            <a:r>
              <a:rPr sz="1800" b="0" i="0">
                <a:solidFill>
                  <a:srgbClr val="94A3B8"/>
                </a:solidFill>
                <a:latin typeface="Calibri"/>
              </a:rPr>
              <a:t>/ 100</a:t>
            </a:r>
          </a:p>
        </p:txBody>
      </p:sp>
      <p:sp>
        <p:nvSpPr>
          <p:cNvPr id="13" name="Rectangle 12"/>
          <p:cNvSpPr/>
          <p:nvPr/>
        </p:nvSpPr>
        <p:spPr>
          <a:xfrm>
            <a:off x="822960" y="3794760"/>
            <a:ext cx="1463040" cy="347472"/>
          </a:xfrm>
          <a:prstGeom prst="rect">
            <a:avLst/>
          </a:prstGeom>
          <a:solidFill>
            <a:srgbClr val="053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794760"/>
            <a:ext cx="1463040" cy="347472"/>
          </a:xfrm>
          <a:prstGeom prst="rect">
            <a:avLst/>
          </a:prstGeom>
          <a:noFill/>
        </p:spPr>
        <p:txBody>
          <a:bodyPr wrap="square">
            <a:spAutoFit/>
          </a:bodyPr>
          <a:lstStyle/>
          <a:p>
            <a:pPr algn="ctr"/>
            <a:r>
              <a:rPr sz="1100" b="1" i="0">
                <a:solidFill>
                  <a:srgbClr val="34D399"/>
                </a:solidFill>
                <a:latin typeface="Calibri"/>
              </a:rPr>
              <a:t>LOW RISK</a:t>
            </a:r>
          </a:p>
        </p:txBody>
      </p:sp>
      <p:sp>
        <p:nvSpPr>
          <p:cNvPr id="15" name="TextBox 14"/>
          <p:cNvSpPr txBox="1"/>
          <p:nvPr/>
        </p:nvSpPr>
        <p:spPr>
          <a:xfrm>
            <a:off x="822960" y="4251960"/>
            <a:ext cx="4572000" cy="347472"/>
          </a:xfrm>
          <a:prstGeom prst="rect">
            <a:avLst/>
          </a:prstGeom>
          <a:noFill/>
        </p:spPr>
        <p:txBody>
          <a:bodyPr wrap="square">
            <a:spAutoFit/>
          </a:bodyPr>
          <a:lstStyle/>
          <a:p>
            <a:pPr algn="l"/>
            <a:r>
              <a:rPr sz="1200" b="0" i="0">
                <a:solidFill>
                  <a:srgbClr val="34D399"/>
                </a:solidFill>
                <a:latin typeface="Calibri"/>
              </a:rPr>
              <a:t>✓  Finance eligible up to ₦200,000</a:t>
            </a:r>
          </a:p>
        </p:txBody>
      </p:sp>
      <p:sp>
        <p:nvSpPr>
          <p:cNvPr id="16" name="Rectangle 15"/>
          <p:cNvSpPr/>
          <p:nvPr/>
        </p:nvSpPr>
        <p:spPr>
          <a:xfrm>
            <a:off x="822960" y="4709160"/>
            <a:ext cx="475488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773168"/>
            <a:ext cx="4754880" cy="502920"/>
          </a:xfrm>
          <a:prstGeom prst="rect">
            <a:avLst/>
          </a:prstGeom>
          <a:noFill/>
        </p:spPr>
        <p:txBody>
          <a:bodyPr wrap="square">
            <a:spAutoFit/>
          </a:bodyPr>
          <a:lstStyle/>
          <a:p>
            <a:pPr algn="l"/>
            <a:r>
              <a:rPr sz="1000" b="1">
                <a:solidFill>
                  <a:srgbClr val="94A3B8"/>
                </a:solidFill>
                <a:latin typeface="Calibri"/>
              </a:rPr>
              <a:t>Score formula:</a:t>
            </a:r>
          </a:p>
          <a:p>
            <a:pPr algn="l"/>
            <a:r>
              <a:rPr sz="1000" b="0">
                <a:solidFill>
                  <a:srgbClr val="94A3B8"/>
                </a:solidFill>
                <a:latin typeface="Calibri"/>
              </a:rPr>
              <a:t>score = tx_history(40%) + vouches(25%) + activity(20%) + profile(15%)</a:t>
            </a:r>
          </a:p>
        </p:txBody>
      </p:sp>
      <p:sp>
        <p:nvSpPr>
          <p:cNvPr id="18" name="TextBox 17"/>
          <p:cNvSpPr txBox="1"/>
          <p:nvPr/>
        </p:nvSpPr>
        <p:spPr>
          <a:xfrm>
            <a:off x="822960" y="5349240"/>
            <a:ext cx="4754880" cy="347472"/>
          </a:xfrm>
          <a:prstGeom prst="rect">
            <a:avLst/>
          </a:prstGeom>
          <a:noFill/>
        </p:spPr>
        <p:txBody>
          <a:bodyPr wrap="square">
            <a:spAutoFit/>
          </a:bodyPr>
          <a:lstStyle/>
          <a:p>
            <a:pPr algn="l"/>
            <a:r>
              <a:rPr sz="1000" b="0" i="0">
                <a:solidFill>
                  <a:srgbClr val="94A3B8"/>
                </a:solidFill>
                <a:latin typeface="Calibri"/>
              </a:rPr>
              <a:t>Risk tiers:  High (0–29)  ·  Medium (30–54)  ·  Low (55–74)  ·  Very Low (75–100)</a:t>
            </a:r>
          </a:p>
        </p:txBody>
      </p:sp>
      <p:sp>
        <p:nvSpPr>
          <p:cNvPr id="19" name="TextBox 18"/>
          <p:cNvSpPr txBox="1"/>
          <p:nvPr/>
        </p:nvSpPr>
        <p:spPr>
          <a:xfrm>
            <a:off x="822960" y="5833872"/>
            <a:ext cx="4754880" cy="347472"/>
          </a:xfrm>
          <a:prstGeom prst="rect">
            <a:avLst/>
          </a:prstGeom>
          <a:noFill/>
        </p:spPr>
        <p:txBody>
          <a:bodyPr wrap="square">
            <a:spAutoFit/>
          </a:bodyPr>
          <a:lstStyle/>
          <a:p>
            <a:pPr algn="l"/>
            <a:r>
              <a:rPr sz="900" b="0" i="0">
                <a:solidFill>
                  <a:srgbClr val="445570"/>
                </a:solidFill>
                <a:latin typeface="Calibri"/>
              </a:rPr>
              <a:t>Python FastAPI  ·  gRPC  ·  scikit-learn  ·  BullMQ async queue</a:t>
            </a:r>
          </a:p>
        </p:txBody>
      </p:sp>
      <p:sp>
        <p:nvSpPr>
          <p:cNvPr id="20" name="TextBox 19"/>
          <p:cNvSpPr txBox="1"/>
          <p:nvPr/>
        </p:nvSpPr>
        <p:spPr>
          <a:xfrm>
            <a:off x="6400800" y="2011680"/>
            <a:ext cx="5394960" cy="347472"/>
          </a:xfrm>
          <a:prstGeom prst="rect">
            <a:avLst/>
          </a:prstGeom>
          <a:noFill/>
        </p:spPr>
        <p:txBody>
          <a:bodyPr wrap="square">
            <a:spAutoFit/>
          </a:bodyPr>
          <a:lstStyle/>
          <a:p>
            <a:pPr algn="l"/>
            <a:r>
              <a:rPr sz="1100" b="1" i="0">
                <a:solidFill>
                  <a:srgbClr val="F97316"/>
                </a:solidFill>
                <a:latin typeface="Calibri"/>
              </a:rPr>
              <a:t>HOW THE SCORE IS BUILT</a:t>
            </a:r>
          </a:p>
        </p:txBody>
      </p:sp>
      <p:sp>
        <p:nvSpPr>
          <p:cNvPr id="21" name="TextBox 20"/>
          <p:cNvSpPr txBox="1"/>
          <p:nvPr/>
        </p:nvSpPr>
        <p:spPr>
          <a:xfrm>
            <a:off x="6400800" y="2487168"/>
            <a:ext cx="3840480" cy="347472"/>
          </a:xfrm>
          <a:prstGeom prst="rect">
            <a:avLst/>
          </a:prstGeom>
          <a:noFill/>
        </p:spPr>
        <p:txBody>
          <a:bodyPr wrap="square">
            <a:spAutoFit/>
          </a:bodyPr>
          <a:lstStyle/>
          <a:p>
            <a:pPr algn="l"/>
            <a:r>
              <a:rPr sz="1300" b="0" i="0">
                <a:solidFill>
                  <a:srgbClr val="FFFFFF"/>
                </a:solidFill>
                <a:latin typeface="Calibri"/>
              </a:rPr>
              <a:t>Transaction History</a:t>
            </a:r>
          </a:p>
        </p:txBody>
      </p:sp>
      <p:sp>
        <p:nvSpPr>
          <p:cNvPr id="22" name="TextBox 21"/>
          <p:cNvSpPr txBox="1"/>
          <p:nvPr/>
        </p:nvSpPr>
        <p:spPr>
          <a:xfrm>
            <a:off x="6400800" y="2487168"/>
            <a:ext cx="5394960" cy="347472"/>
          </a:xfrm>
          <a:prstGeom prst="rect">
            <a:avLst/>
          </a:prstGeom>
          <a:noFill/>
        </p:spPr>
        <p:txBody>
          <a:bodyPr wrap="square">
            <a:spAutoFit/>
          </a:bodyPr>
          <a:lstStyle/>
          <a:p>
            <a:pPr algn="r"/>
            <a:r>
              <a:rPr sz="1300" b="1" i="0">
                <a:solidFill>
                  <a:srgbClr val="F97316"/>
                </a:solidFill>
                <a:latin typeface="Calibri"/>
              </a:rPr>
              <a:t>40%</a:t>
            </a:r>
          </a:p>
        </p:txBody>
      </p:sp>
      <p:sp>
        <p:nvSpPr>
          <p:cNvPr id="23" name="Rectangle 22"/>
          <p:cNvSpPr/>
          <p:nvPr/>
        </p:nvSpPr>
        <p:spPr>
          <a:xfrm>
            <a:off x="6400800" y="2871216"/>
            <a:ext cx="5394960" cy="182880"/>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0" y="2871216"/>
            <a:ext cx="2157984" cy="18288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3310128"/>
            <a:ext cx="3840480" cy="347472"/>
          </a:xfrm>
          <a:prstGeom prst="rect">
            <a:avLst/>
          </a:prstGeom>
          <a:noFill/>
        </p:spPr>
        <p:txBody>
          <a:bodyPr wrap="square">
            <a:spAutoFit/>
          </a:bodyPr>
          <a:lstStyle/>
          <a:p>
            <a:pPr algn="l"/>
            <a:r>
              <a:rPr sz="1300" b="0" i="0">
                <a:solidFill>
                  <a:srgbClr val="FFFFFF"/>
                </a:solidFill>
                <a:latin typeface="Calibri"/>
              </a:rPr>
              <a:t>Community Vouching</a:t>
            </a:r>
          </a:p>
        </p:txBody>
      </p:sp>
      <p:sp>
        <p:nvSpPr>
          <p:cNvPr id="26" name="TextBox 25"/>
          <p:cNvSpPr txBox="1"/>
          <p:nvPr/>
        </p:nvSpPr>
        <p:spPr>
          <a:xfrm>
            <a:off x="6400800" y="3310128"/>
            <a:ext cx="5394960" cy="347472"/>
          </a:xfrm>
          <a:prstGeom prst="rect">
            <a:avLst/>
          </a:prstGeom>
          <a:noFill/>
        </p:spPr>
        <p:txBody>
          <a:bodyPr wrap="square">
            <a:spAutoFit/>
          </a:bodyPr>
          <a:lstStyle/>
          <a:p>
            <a:pPr algn="r"/>
            <a:r>
              <a:rPr sz="1300" b="1" i="0">
                <a:solidFill>
                  <a:srgbClr val="F97316"/>
                </a:solidFill>
                <a:latin typeface="Calibri"/>
              </a:rPr>
              <a:t>25%</a:t>
            </a:r>
          </a:p>
        </p:txBody>
      </p:sp>
      <p:sp>
        <p:nvSpPr>
          <p:cNvPr id="27" name="Rectangle 26"/>
          <p:cNvSpPr/>
          <p:nvPr/>
        </p:nvSpPr>
        <p:spPr>
          <a:xfrm>
            <a:off x="6400800" y="3694176"/>
            <a:ext cx="5394960" cy="182880"/>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0" y="3694176"/>
            <a:ext cx="1348740" cy="18288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4133088"/>
            <a:ext cx="3840480" cy="347472"/>
          </a:xfrm>
          <a:prstGeom prst="rect">
            <a:avLst/>
          </a:prstGeom>
          <a:noFill/>
        </p:spPr>
        <p:txBody>
          <a:bodyPr wrap="square">
            <a:spAutoFit/>
          </a:bodyPr>
          <a:lstStyle/>
          <a:p>
            <a:pPr algn="l"/>
            <a:r>
              <a:rPr sz="1300" b="0" i="0">
                <a:solidFill>
                  <a:srgbClr val="FFFFFF"/>
                </a:solidFill>
                <a:latin typeface="Calibri"/>
              </a:rPr>
              <a:t>Platform Activity</a:t>
            </a:r>
          </a:p>
        </p:txBody>
      </p:sp>
      <p:sp>
        <p:nvSpPr>
          <p:cNvPr id="30" name="TextBox 29"/>
          <p:cNvSpPr txBox="1"/>
          <p:nvPr/>
        </p:nvSpPr>
        <p:spPr>
          <a:xfrm>
            <a:off x="6400800" y="4133088"/>
            <a:ext cx="5394960" cy="347472"/>
          </a:xfrm>
          <a:prstGeom prst="rect">
            <a:avLst/>
          </a:prstGeom>
          <a:noFill/>
        </p:spPr>
        <p:txBody>
          <a:bodyPr wrap="square">
            <a:spAutoFit/>
          </a:bodyPr>
          <a:lstStyle/>
          <a:p>
            <a:pPr algn="r"/>
            <a:r>
              <a:rPr sz="1300" b="1" i="0">
                <a:solidFill>
                  <a:srgbClr val="F97316"/>
                </a:solidFill>
                <a:latin typeface="Calibri"/>
              </a:rPr>
              <a:t>20%</a:t>
            </a:r>
          </a:p>
        </p:txBody>
      </p:sp>
      <p:sp>
        <p:nvSpPr>
          <p:cNvPr id="31" name="Rectangle 30"/>
          <p:cNvSpPr/>
          <p:nvPr/>
        </p:nvSpPr>
        <p:spPr>
          <a:xfrm>
            <a:off x="6400800" y="4517136"/>
            <a:ext cx="5394960" cy="182880"/>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4517136"/>
            <a:ext cx="1078992" cy="18288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4956048"/>
            <a:ext cx="3840480" cy="347472"/>
          </a:xfrm>
          <a:prstGeom prst="rect">
            <a:avLst/>
          </a:prstGeom>
          <a:noFill/>
        </p:spPr>
        <p:txBody>
          <a:bodyPr wrap="square">
            <a:spAutoFit/>
          </a:bodyPr>
          <a:lstStyle/>
          <a:p>
            <a:pPr algn="l"/>
            <a:r>
              <a:rPr sz="1300" b="0" i="0">
                <a:solidFill>
                  <a:srgbClr val="FFFFFF"/>
                </a:solidFill>
                <a:latin typeface="Calibri"/>
              </a:rPr>
              <a:t>Profile Completeness</a:t>
            </a:r>
          </a:p>
        </p:txBody>
      </p:sp>
      <p:sp>
        <p:nvSpPr>
          <p:cNvPr id="34" name="TextBox 33"/>
          <p:cNvSpPr txBox="1"/>
          <p:nvPr/>
        </p:nvSpPr>
        <p:spPr>
          <a:xfrm>
            <a:off x="6400800" y="4956048"/>
            <a:ext cx="5394960" cy="347472"/>
          </a:xfrm>
          <a:prstGeom prst="rect">
            <a:avLst/>
          </a:prstGeom>
          <a:noFill/>
        </p:spPr>
        <p:txBody>
          <a:bodyPr wrap="square">
            <a:spAutoFit/>
          </a:bodyPr>
          <a:lstStyle/>
          <a:p>
            <a:pPr algn="r"/>
            <a:r>
              <a:rPr sz="1300" b="1" i="0">
                <a:solidFill>
                  <a:srgbClr val="F97316"/>
                </a:solidFill>
                <a:latin typeface="Calibri"/>
              </a:rPr>
              <a:t>15%</a:t>
            </a:r>
          </a:p>
        </p:txBody>
      </p:sp>
      <p:sp>
        <p:nvSpPr>
          <p:cNvPr id="35" name="Rectangle 34"/>
          <p:cNvSpPr/>
          <p:nvPr/>
        </p:nvSpPr>
        <p:spPr>
          <a:xfrm>
            <a:off x="6400800" y="5340096"/>
            <a:ext cx="5394960" cy="182880"/>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0" y="5340096"/>
            <a:ext cx="809244" cy="18288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0" y="5833872"/>
            <a:ext cx="539496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5870448"/>
            <a:ext cx="5394960" cy="292608"/>
          </a:xfrm>
          <a:prstGeom prst="rect">
            <a:avLst/>
          </a:prstGeom>
          <a:noFill/>
        </p:spPr>
        <p:txBody>
          <a:bodyPr wrap="square">
            <a:spAutoFit/>
          </a:bodyPr>
          <a:lstStyle/>
          <a:p>
            <a:pPr algn="l"/>
            <a:r>
              <a:rPr sz="1000" b="1" i="0">
                <a:solidFill>
                  <a:srgbClr val="94A3B8"/>
                </a:solidFill>
                <a:latin typeface="Calibri"/>
              </a:rPr>
              <a:t>JOB MATCHING WEIGHTS</a:t>
            </a:r>
          </a:p>
        </p:txBody>
      </p:sp>
      <p:sp>
        <p:nvSpPr>
          <p:cNvPr id="39" name="TextBox 38"/>
          <p:cNvSpPr txBox="1"/>
          <p:nvPr/>
        </p:nvSpPr>
        <p:spPr>
          <a:xfrm>
            <a:off x="6400800" y="6144768"/>
            <a:ext cx="5394960" cy="320040"/>
          </a:xfrm>
          <a:prstGeom prst="rect">
            <a:avLst/>
          </a:prstGeom>
          <a:noFill/>
        </p:spPr>
        <p:txBody>
          <a:bodyPr wrap="square">
            <a:spAutoFit/>
          </a:bodyPr>
          <a:lstStyle/>
          <a:p>
            <a:pPr algn="l"/>
            <a:r>
              <a:rPr sz="1000" b="0" i="0">
                <a:solidFill>
                  <a:srgbClr val="94A3B8"/>
                </a:solidFill>
                <a:latin typeface="Calibri"/>
              </a:rPr>
              <a:t>Skill overlap (40%)  ·  Proximity (25%)  ·  Success history (20%)  ·  Language match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06  —  USER FLOW</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10058400" cy="685800"/>
          </a:xfrm>
          <a:prstGeom prst="rect">
            <a:avLst/>
          </a:prstGeom>
          <a:noFill/>
        </p:spPr>
        <p:txBody>
          <a:bodyPr wrap="square">
            <a:spAutoFit/>
          </a:bodyPr>
          <a:lstStyle/>
          <a:p>
            <a:pPr algn="l"/>
            <a:r>
              <a:rPr sz="3800" b="1" i="0">
                <a:solidFill>
                  <a:srgbClr val="FFFFFF"/>
                </a:solidFill>
                <a:latin typeface="Calibri"/>
              </a:rPr>
              <a:t>Invisible to Empowered in 4 Steps</a:t>
            </a:r>
          </a:p>
        </p:txBody>
      </p:sp>
      <p:sp>
        <p:nvSpPr>
          <p:cNvPr id="7" name="TextBox 6"/>
          <p:cNvSpPr txBox="1"/>
          <p:nvPr/>
        </p:nvSpPr>
        <p:spPr>
          <a:xfrm>
            <a:off x="548640" y="1463040"/>
            <a:ext cx="11064240" cy="457200"/>
          </a:xfrm>
          <a:prstGeom prst="rect">
            <a:avLst/>
          </a:prstGeom>
          <a:noFill/>
        </p:spPr>
        <p:txBody>
          <a:bodyPr wrap="square">
            <a:spAutoFit/>
          </a:bodyPr>
          <a:lstStyle/>
          <a:p>
            <a:pPr algn="l"/>
            <a:r>
              <a:rPr sz="1300" b="0" i="0">
                <a:solidFill>
                  <a:srgbClr val="94A3B8"/>
                </a:solidFill>
                <a:latin typeface="Calibri"/>
              </a:rPr>
              <a:t>One continuous journey from first phone login to first financial product. Every step adds data. Every data point builds identity. Every milestone opens a new door.</a:t>
            </a:r>
          </a:p>
        </p:txBody>
      </p:sp>
      <p:sp>
        <p:nvSpPr>
          <p:cNvPr id="8" name="Rectangle 7"/>
          <p:cNvSpPr/>
          <p:nvPr/>
        </p:nvSpPr>
        <p:spPr>
          <a:xfrm>
            <a:off x="685800" y="1965960"/>
            <a:ext cx="2468880" cy="411480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65960"/>
            <a:ext cx="246888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130552"/>
            <a:ext cx="2194560" cy="475488"/>
          </a:xfrm>
          <a:prstGeom prst="rect">
            <a:avLst/>
          </a:prstGeom>
          <a:noFill/>
        </p:spPr>
        <p:txBody>
          <a:bodyPr wrap="square">
            <a:spAutoFit/>
          </a:bodyPr>
          <a:lstStyle/>
          <a:p>
            <a:pPr algn="l"/>
            <a:r>
              <a:rPr sz="3000" b="1" i="0">
                <a:solidFill>
                  <a:srgbClr val="F97316"/>
                </a:solidFill>
                <a:latin typeface="Calibri"/>
              </a:rPr>
              <a:t>01</a:t>
            </a:r>
          </a:p>
        </p:txBody>
      </p:sp>
      <p:sp>
        <p:nvSpPr>
          <p:cNvPr id="11" name="TextBox 10"/>
          <p:cNvSpPr txBox="1"/>
          <p:nvPr/>
        </p:nvSpPr>
        <p:spPr>
          <a:xfrm>
            <a:off x="868680" y="2624328"/>
            <a:ext cx="2194560" cy="384048"/>
          </a:xfrm>
          <a:prstGeom prst="rect">
            <a:avLst/>
          </a:prstGeom>
          <a:noFill/>
        </p:spPr>
        <p:txBody>
          <a:bodyPr wrap="square">
            <a:spAutoFit/>
          </a:bodyPr>
          <a:lstStyle/>
          <a:p>
            <a:pPr algn="l"/>
            <a:r>
              <a:rPr sz="1400" b="1" i="0">
                <a:solidFill>
                  <a:srgbClr val="FFFFFF"/>
                </a:solidFill>
                <a:latin typeface="Calibri"/>
              </a:rPr>
              <a:t>ONBOARD</a:t>
            </a:r>
          </a:p>
        </p:txBody>
      </p:sp>
      <p:sp>
        <p:nvSpPr>
          <p:cNvPr id="12" name="TextBox 11"/>
          <p:cNvSpPr txBox="1"/>
          <p:nvPr/>
        </p:nvSpPr>
        <p:spPr>
          <a:xfrm>
            <a:off x="868680" y="3008375"/>
            <a:ext cx="2194560" cy="292608"/>
          </a:xfrm>
          <a:prstGeom prst="rect">
            <a:avLst/>
          </a:prstGeom>
          <a:noFill/>
        </p:spPr>
        <p:txBody>
          <a:bodyPr wrap="square">
            <a:spAutoFit/>
          </a:bodyPr>
          <a:lstStyle/>
          <a:p>
            <a:pPr algn="l"/>
            <a:r>
              <a:rPr sz="1000" b="0" i="0">
                <a:solidFill>
                  <a:srgbClr val="F97316"/>
                </a:solidFill>
                <a:latin typeface="Calibri"/>
              </a:rPr>
              <a:t>3 min  ·  phone-first</a:t>
            </a:r>
          </a:p>
        </p:txBody>
      </p:sp>
      <p:sp>
        <p:nvSpPr>
          <p:cNvPr id="13" name="Rectangle 12"/>
          <p:cNvSpPr/>
          <p:nvPr/>
        </p:nvSpPr>
        <p:spPr>
          <a:xfrm>
            <a:off x="868680" y="3337560"/>
            <a:ext cx="219456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10712"/>
            <a:ext cx="2194560" cy="2542032"/>
          </a:xfrm>
          <a:prstGeom prst="rect">
            <a:avLst/>
          </a:prstGeom>
          <a:noFill/>
        </p:spPr>
        <p:txBody>
          <a:bodyPr wrap="square">
            <a:spAutoFit/>
          </a:bodyPr>
          <a:lstStyle/>
          <a:p>
            <a:pPr algn="l"/>
            <a:r>
              <a:rPr sz="1100" b="0" i="0">
                <a:solidFill>
                  <a:srgbClr val="94A3B8"/>
                </a:solidFill>
                <a:latin typeface="Calibri"/>
              </a:rPr>
              <a:t>Sign up with phone number. Set name, skills, trade category, preferred language, and location. Consent to data sharing. Squad virtual account auto-generated on completion — payment identity established from minute one.</a:t>
            </a:r>
          </a:p>
        </p:txBody>
      </p:sp>
      <p:sp>
        <p:nvSpPr>
          <p:cNvPr id="15" name="Rectangle 14"/>
          <p:cNvSpPr/>
          <p:nvPr/>
        </p:nvSpPr>
        <p:spPr>
          <a:xfrm>
            <a:off x="3474720" y="1965960"/>
            <a:ext cx="2468880" cy="411480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74720" y="1965960"/>
            <a:ext cx="246888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0" y="2130552"/>
            <a:ext cx="2194560" cy="475488"/>
          </a:xfrm>
          <a:prstGeom prst="rect">
            <a:avLst/>
          </a:prstGeom>
          <a:noFill/>
        </p:spPr>
        <p:txBody>
          <a:bodyPr wrap="square">
            <a:spAutoFit/>
          </a:bodyPr>
          <a:lstStyle/>
          <a:p>
            <a:pPr algn="l"/>
            <a:r>
              <a:rPr sz="3000" b="1" i="0">
                <a:solidFill>
                  <a:srgbClr val="F97316"/>
                </a:solidFill>
                <a:latin typeface="Calibri"/>
              </a:rPr>
              <a:t>02</a:t>
            </a:r>
          </a:p>
        </p:txBody>
      </p:sp>
      <p:sp>
        <p:nvSpPr>
          <p:cNvPr id="18" name="TextBox 17"/>
          <p:cNvSpPr txBox="1"/>
          <p:nvPr/>
        </p:nvSpPr>
        <p:spPr>
          <a:xfrm>
            <a:off x="3657600" y="2624328"/>
            <a:ext cx="2194560" cy="384048"/>
          </a:xfrm>
          <a:prstGeom prst="rect">
            <a:avLst/>
          </a:prstGeom>
          <a:noFill/>
        </p:spPr>
        <p:txBody>
          <a:bodyPr wrap="square">
            <a:spAutoFit/>
          </a:bodyPr>
          <a:lstStyle/>
          <a:p>
            <a:pPr algn="l"/>
            <a:r>
              <a:rPr sz="1400" b="1" i="0">
                <a:solidFill>
                  <a:srgbClr val="FFFFFF"/>
                </a:solidFill>
                <a:latin typeface="Calibri"/>
              </a:rPr>
              <a:t>BUILD YOUR SCORE</a:t>
            </a:r>
          </a:p>
        </p:txBody>
      </p:sp>
      <p:sp>
        <p:nvSpPr>
          <p:cNvPr id="19" name="TextBox 18"/>
          <p:cNvSpPr txBox="1"/>
          <p:nvPr/>
        </p:nvSpPr>
        <p:spPr>
          <a:xfrm>
            <a:off x="3657600" y="3008375"/>
            <a:ext cx="2194560" cy="292608"/>
          </a:xfrm>
          <a:prstGeom prst="rect">
            <a:avLst/>
          </a:prstGeom>
          <a:noFill/>
        </p:spPr>
        <p:txBody>
          <a:bodyPr wrap="square">
            <a:spAutoFit/>
          </a:bodyPr>
          <a:lstStyle/>
          <a:p>
            <a:pPr algn="l"/>
            <a:r>
              <a:rPr sz="1000" b="0" i="0">
                <a:solidFill>
                  <a:srgbClr val="F97316"/>
                </a:solidFill>
                <a:latin typeface="Calibri"/>
              </a:rPr>
              <a:t>Day 1 → Day 90</a:t>
            </a:r>
          </a:p>
        </p:txBody>
      </p:sp>
      <p:sp>
        <p:nvSpPr>
          <p:cNvPr id="20" name="Rectangle 19"/>
          <p:cNvSpPr/>
          <p:nvPr/>
        </p:nvSpPr>
        <p:spPr>
          <a:xfrm>
            <a:off x="3657600" y="3337560"/>
            <a:ext cx="219456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0" y="3410712"/>
            <a:ext cx="2194560" cy="2542032"/>
          </a:xfrm>
          <a:prstGeom prst="rect">
            <a:avLst/>
          </a:prstGeom>
          <a:noFill/>
        </p:spPr>
        <p:txBody>
          <a:bodyPr wrap="square">
            <a:spAutoFit/>
          </a:bodyPr>
          <a:lstStyle/>
          <a:p>
            <a:pPr algn="l"/>
            <a:r>
              <a:rPr sz="1100" b="0" i="0">
                <a:solidFill>
                  <a:srgbClr val="94A3B8"/>
                </a:solidFill>
                <a:latin typeface="Calibri"/>
              </a:rPr>
              <a:t>Complete gigs through the Opportunity Marketplace. Record Squad transactions. Get vouched by peers who have transacted with you on Trace. Python AI service recalculates your Identity Score via gRPC after every event.</a:t>
            </a:r>
          </a:p>
        </p:txBody>
      </p:sp>
      <p:sp>
        <p:nvSpPr>
          <p:cNvPr id="22" name="Rectangle 21"/>
          <p:cNvSpPr/>
          <p:nvPr/>
        </p:nvSpPr>
        <p:spPr>
          <a:xfrm>
            <a:off x="6263640" y="1965960"/>
            <a:ext cx="2468880" cy="411480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1965960"/>
            <a:ext cx="246888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2130552"/>
            <a:ext cx="2194560" cy="475488"/>
          </a:xfrm>
          <a:prstGeom prst="rect">
            <a:avLst/>
          </a:prstGeom>
          <a:noFill/>
        </p:spPr>
        <p:txBody>
          <a:bodyPr wrap="square">
            <a:spAutoFit/>
          </a:bodyPr>
          <a:lstStyle/>
          <a:p>
            <a:pPr algn="l"/>
            <a:r>
              <a:rPr sz="3000" b="1" i="0">
                <a:solidFill>
                  <a:srgbClr val="F97316"/>
                </a:solidFill>
                <a:latin typeface="Calibri"/>
              </a:rPr>
              <a:t>03</a:t>
            </a:r>
          </a:p>
        </p:txBody>
      </p:sp>
      <p:sp>
        <p:nvSpPr>
          <p:cNvPr id="25" name="TextBox 24"/>
          <p:cNvSpPr txBox="1"/>
          <p:nvPr/>
        </p:nvSpPr>
        <p:spPr>
          <a:xfrm>
            <a:off x="6446520" y="2624328"/>
            <a:ext cx="2194560" cy="384048"/>
          </a:xfrm>
          <a:prstGeom prst="rect">
            <a:avLst/>
          </a:prstGeom>
          <a:noFill/>
        </p:spPr>
        <p:txBody>
          <a:bodyPr wrap="square">
            <a:spAutoFit/>
          </a:bodyPr>
          <a:lstStyle/>
          <a:p>
            <a:pPr algn="l"/>
            <a:r>
              <a:rPr sz="1400" b="1" i="0">
                <a:solidFill>
                  <a:srgbClr val="FFFFFF"/>
                </a:solidFill>
                <a:latin typeface="Calibri"/>
              </a:rPr>
              <a:t>GET MATCHED</a:t>
            </a:r>
          </a:p>
        </p:txBody>
      </p:sp>
      <p:sp>
        <p:nvSpPr>
          <p:cNvPr id="26" name="TextBox 25"/>
          <p:cNvSpPr txBox="1"/>
          <p:nvPr/>
        </p:nvSpPr>
        <p:spPr>
          <a:xfrm>
            <a:off x="6446520" y="3008375"/>
            <a:ext cx="2194560" cy="292608"/>
          </a:xfrm>
          <a:prstGeom prst="rect">
            <a:avLst/>
          </a:prstGeom>
          <a:noFill/>
        </p:spPr>
        <p:txBody>
          <a:bodyPr wrap="square">
            <a:spAutoFit/>
          </a:bodyPr>
          <a:lstStyle/>
          <a:p>
            <a:pPr algn="l"/>
            <a:r>
              <a:rPr sz="1000" b="0" i="0">
                <a:solidFill>
                  <a:srgbClr val="F97316"/>
                </a:solidFill>
                <a:latin typeface="Calibri"/>
              </a:rPr>
              <a:t>AI-powered  ·  location-aware</a:t>
            </a:r>
          </a:p>
        </p:txBody>
      </p:sp>
      <p:sp>
        <p:nvSpPr>
          <p:cNvPr id="27" name="Rectangle 26"/>
          <p:cNvSpPr/>
          <p:nvPr/>
        </p:nvSpPr>
        <p:spPr>
          <a:xfrm>
            <a:off x="6446520" y="3337560"/>
            <a:ext cx="219456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3410712"/>
            <a:ext cx="2194560" cy="2542032"/>
          </a:xfrm>
          <a:prstGeom prst="rect">
            <a:avLst/>
          </a:prstGeom>
          <a:noFill/>
        </p:spPr>
        <p:txBody>
          <a:bodyPr wrap="square">
            <a:spAutoFit/>
          </a:bodyPr>
          <a:lstStyle/>
          <a:p>
            <a:pPr algn="l"/>
            <a:r>
              <a:rPr sz="1100" b="0" i="0">
                <a:solidFill>
                  <a:srgbClr val="94A3B8"/>
                </a:solidFill>
                <a:latin typeface="Calibri"/>
              </a:rPr>
              <a:t>AI ranks open opportunities by skill overlap (40%), proximity (25%), historical success rate (20%), and language match (15%). Apply in one tap. Employer payment locked in Squad escrow before you start — guaranteed.</a:t>
            </a:r>
          </a:p>
        </p:txBody>
      </p:sp>
      <p:sp>
        <p:nvSpPr>
          <p:cNvPr id="29" name="Rectangle 28"/>
          <p:cNvSpPr/>
          <p:nvPr/>
        </p:nvSpPr>
        <p:spPr>
          <a:xfrm>
            <a:off x="9052560" y="1965960"/>
            <a:ext cx="2468880" cy="411480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052560" y="1965960"/>
            <a:ext cx="246888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440" y="2130552"/>
            <a:ext cx="2194560" cy="475488"/>
          </a:xfrm>
          <a:prstGeom prst="rect">
            <a:avLst/>
          </a:prstGeom>
          <a:noFill/>
        </p:spPr>
        <p:txBody>
          <a:bodyPr wrap="square">
            <a:spAutoFit/>
          </a:bodyPr>
          <a:lstStyle/>
          <a:p>
            <a:pPr algn="l"/>
            <a:r>
              <a:rPr sz="3000" b="1" i="0">
                <a:solidFill>
                  <a:srgbClr val="F97316"/>
                </a:solidFill>
                <a:latin typeface="Calibri"/>
              </a:rPr>
              <a:t>04</a:t>
            </a:r>
          </a:p>
        </p:txBody>
      </p:sp>
      <p:sp>
        <p:nvSpPr>
          <p:cNvPr id="32" name="TextBox 31"/>
          <p:cNvSpPr txBox="1"/>
          <p:nvPr/>
        </p:nvSpPr>
        <p:spPr>
          <a:xfrm>
            <a:off x="9235440" y="2624328"/>
            <a:ext cx="2194560" cy="384048"/>
          </a:xfrm>
          <a:prstGeom prst="rect">
            <a:avLst/>
          </a:prstGeom>
          <a:noFill/>
        </p:spPr>
        <p:txBody>
          <a:bodyPr wrap="square">
            <a:spAutoFit/>
          </a:bodyPr>
          <a:lstStyle/>
          <a:p>
            <a:pPr algn="l"/>
            <a:r>
              <a:rPr sz="1400" b="1" i="0">
                <a:solidFill>
                  <a:srgbClr val="FFFFFF"/>
                </a:solidFill>
                <a:latin typeface="Calibri"/>
              </a:rPr>
              <a:t>ACCESS FINANCE</a:t>
            </a:r>
          </a:p>
        </p:txBody>
      </p:sp>
      <p:sp>
        <p:nvSpPr>
          <p:cNvPr id="33" name="TextBox 32"/>
          <p:cNvSpPr txBox="1"/>
          <p:nvPr/>
        </p:nvSpPr>
        <p:spPr>
          <a:xfrm>
            <a:off x="9235440" y="3008375"/>
            <a:ext cx="2194560" cy="292608"/>
          </a:xfrm>
          <a:prstGeom prst="rect">
            <a:avLst/>
          </a:prstGeom>
          <a:noFill/>
        </p:spPr>
        <p:txBody>
          <a:bodyPr wrap="square">
            <a:spAutoFit/>
          </a:bodyPr>
          <a:lstStyle/>
          <a:p>
            <a:pPr algn="l"/>
            <a:r>
              <a:rPr sz="1000" b="0" i="0">
                <a:solidFill>
                  <a:srgbClr val="F97316"/>
                </a:solidFill>
                <a:latin typeface="Calibri"/>
              </a:rPr>
              <a:t>Score ≥ 55 unlocks products</a:t>
            </a:r>
          </a:p>
        </p:txBody>
      </p:sp>
      <p:sp>
        <p:nvSpPr>
          <p:cNvPr id="34" name="Rectangle 33"/>
          <p:cNvSpPr/>
          <p:nvPr/>
        </p:nvSpPr>
        <p:spPr>
          <a:xfrm>
            <a:off x="9235440" y="3337560"/>
            <a:ext cx="219456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35440" y="3410712"/>
            <a:ext cx="2194560" cy="2542032"/>
          </a:xfrm>
          <a:prstGeom prst="rect">
            <a:avLst/>
          </a:prstGeom>
          <a:noFill/>
        </p:spPr>
        <p:txBody>
          <a:bodyPr wrap="square">
            <a:spAutoFit/>
          </a:bodyPr>
          <a:lstStyle/>
          <a:p>
            <a:pPr algn="l"/>
            <a:r>
              <a:rPr sz="1100" b="0" i="0">
                <a:solidFill>
                  <a:srgbClr val="94A3B8"/>
                </a:solidFill>
                <a:latin typeface="Calibri"/>
              </a:rPr>
              <a:t>Your verified credit profile is exposed to partner financial institutions via the Trace Partner API. Micro-loans (₦50K–₦500K), savings plans, insurance. Funds disbursed directly to your Squad virtual account.</a:t>
            </a:r>
          </a:p>
        </p:txBody>
      </p:sp>
      <p:sp>
        <p:nvSpPr>
          <p:cNvPr id="36" name="TextBox 35"/>
          <p:cNvSpPr txBox="1"/>
          <p:nvPr/>
        </p:nvSpPr>
        <p:spPr>
          <a:xfrm>
            <a:off x="3209544" y="3703320"/>
            <a:ext cx="256032" cy="411480"/>
          </a:xfrm>
          <a:prstGeom prst="rect">
            <a:avLst/>
          </a:prstGeom>
          <a:noFill/>
        </p:spPr>
        <p:txBody>
          <a:bodyPr wrap="square">
            <a:spAutoFit/>
          </a:bodyPr>
          <a:lstStyle/>
          <a:p>
            <a:pPr algn="ctr"/>
            <a:r>
              <a:rPr sz="2000" b="1" i="0">
                <a:solidFill>
                  <a:srgbClr val="F97316"/>
                </a:solidFill>
                <a:latin typeface="Calibri"/>
              </a:rPr>
              <a:t>→</a:t>
            </a:r>
          </a:p>
        </p:txBody>
      </p:sp>
      <p:sp>
        <p:nvSpPr>
          <p:cNvPr id="37" name="TextBox 36"/>
          <p:cNvSpPr txBox="1"/>
          <p:nvPr/>
        </p:nvSpPr>
        <p:spPr>
          <a:xfrm>
            <a:off x="5998464" y="3703320"/>
            <a:ext cx="256032" cy="411480"/>
          </a:xfrm>
          <a:prstGeom prst="rect">
            <a:avLst/>
          </a:prstGeom>
          <a:noFill/>
        </p:spPr>
        <p:txBody>
          <a:bodyPr wrap="square">
            <a:spAutoFit/>
          </a:bodyPr>
          <a:lstStyle/>
          <a:p>
            <a:pPr algn="ctr"/>
            <a:r>
              <a:rPr sz="2000" b="1" i="0">
                <a:solidFill>
                  <a:srgbClr val="F97316"/>
                </a:solidFill>
                <a:latin typeface="Calibri"/>
              </a:rPr>
              <a:t>→</a:t>
            </a:r>
          </a:p>
        </p:txBody>
      </p:sp>
      <p:sp>
        <p:nvSpPr>
          <p:cNvPr id="38" name="TextBox 37"/>
          <p:cNvSpPr txBox="1"/>
          <p:nvPr/>
        </p:nvSpPr>
        <p:spPr>
          <a:xfrm>
            <a:off x="8787384" y="3703320"/>
            <a:ext cx="256032" cy="411480"/>
          </a:xfrm>
          <a:prstGeom prst="rect">
            <a:avLst/>
          </a:prstGeom>
          <a:noFill/>
        </p:spPr>
        <p:txBody>
          <a:bodyPr wrap="square">
            <a:spAutoFit/>
          </a:bodyPr>
          <a:lstStyle/>
          <a:p>
            <a:pPr algn="ctr"/>
            <a:r>
              <a:rPr sz="2000" b="1" i="0">
                <a:solidFill>
                  <a:srgbClr val="F97316"/>
                </a:solidFill>
                <a:latin typeface="Calibr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07  —  IMPACT POTENTIAL</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10058400" cy="685800"/>
          </a:xfrm>
          <a:prstGeom prst="rect">
            <a:avLst/>
          </a:prstGeom>
          <a:noFill/>
        </p:spPr>
        <p:txBody>
          <a:bodyPr wrap="square">
            <a:spAutoFit/>
          </a:bodyPr>
          <a:lstStyle/>
          <a:p>
            <a:pPr algn="l"/>
            <a:r>
              <a:rPr sz="3800" b="1" i="0">
                <a:solidFill>
                  <a:srgbClr val="FFFFFF"/>
                </a:solidFill>
                <a:latin typeface="Calibri"/>
              </a:rPr>
              <a:t>The Market Is Ready. The Need Is Now.</a:t>
            </a:r>
          </a:p>
        </p:txBody>
      </p:sp>
      <p:sp>
        <p:nvSpPr>
          <p:cNvPr id="7" name="TextBox 6"/>
          <p:cNvSpPr txBox="1"/>
          <p:nvPr/>
        </p:nvSpPr>
        <p:spPr>
          <a:xfrm>
            <a:off x="548640" y="1463040"/>
            <a:ext cx="11064240" cy="457200"/>
          </a:xfrm>
          <a:prstGeom prst="rect">
            <a:avLst/>
          </a:prstGeom>
          <a:noFill/>
        </p:spPr>
        <p:txBody>
          <a:bodyPr wrap="square">
            <a:spAutoFit/>
          </a:bodyPr>
          <a:lstStyle/>
          <a:p>
            <a:pPr algn="l"/>
            <a:r>
              <a:rPr sz="1300" b="0" i="0">
                <a:solidFill>
                  <a:srgbClr val="94A3B8"/>
                </a:solidFill>
                <a:latin typeface="Calibri"/>
              </a:rPr>
              <a:t>Trace targets the largest underserved population in the Nigerian economy. The technology exists. The data layer is missing. We are building it.</a:t>
            </a:r>
          </a:p>
        </p:txBody>
      </p:sp>
      <p:sp>
        <p:nvSpPr>
          <p:cNvPr id="8" name="Rectangle 7"/>
          <p:cNvSpPr/>
          <p:nvPr/>
        </p:nvSpPr>
        <p:spPr>
          <a:xfrm>
            <a:off x="548640" y="1965960"/>
            <a:ext cx="342900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6596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103120"/>
            <a:ext cx="3108960" cy="804672"/>
          </a:xfrm>
          <a:prstGeom prst="rect">
            <a:avLst/>
          </a:prstGeom>
          <a:noFill/>
        </p:spPr>
        <p:txBody>
          <a:bodyPr wrap="square">
            <a:spAutoFit/>
          </a:bodyPr>
          <a:lstStyle/>
          <a:p>
            <a:pPr algn="l"/>
            <a:r>
              <a:rPr sz="4000" b="1" i="0">
                <a:solidFill>
                  <a:srgbClr val="F97316"/>
                </a:solidFill>
                <a:latin typeface="Calibri"/>
              </a:rPr>
              <a:t>39M</a:t>
            </a:r>
          </a:p>
        </p:txBody>
      </p:sp>
      <p:sp>
        <p:nvSpPr>
          <p:cNvPr id="11" name="TextBox 10"/>
          <p:cNvSpPr txBox="1"/>
          <p:nvPr/>
        </p:nvSpPr>
        <p:spPr>
          <a:xfrm>
            <a:off x="777240" y="2926080"/>
            <a:ext cx="3108960" cy="1051560"/>
          </a:xfrm>
          <a:prstGeom prst="rect">
            <a:avLst/>
          </a:prstGeom>
          <a:noFill/>
        </p:spPr>
        <p:txBody>
          <a:bodyPr wrap="square">
            <a:spAutoFit/>
          </a:bodyPr>
          <a:lstStyle/>
          <a:p>
            <a:pPr algn="l"/>
            <a:r>
              <a:rPr sz="1200" b="0" i="0">
                <a:solidFill>
                  <a:srgbClr val="94A3B8"/>
                </a:solidFill>
                <a:latin typeface="Calibri"/>
              </a:rPr>
              <a:t>informal workers in Nigeria — the primary Trace audience</a:t>
            </a:r>
          </a:p>
        </p:txBody>
      </p:sp>
      <p:sp>
        <p:nvSpPr>
          <p:cNvPr id="12" name="Rectangle 11"/>
          <p:cNvSpPr/>
          <p:nvPr/>
        </p:nvSpPr>
        <p:spPr>
          <a:xfrm>
            <a:off x="4343400" y="1965960"/>
            <a:ext cx="342900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6596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103120"/>
            <a:ext cx="3108960" cy="804672"/>
          </a:xfrm>
          <a:prstGeom prst="rect">
            <a:avLst/>
          </a:prstGeom>
          <a:noFill/>
        </p:spPr>
        <p:txBody>
          <a:bodyPr wrap="square">
            <a:spAutoFit/>
          </a:bodyPr>
          <a:lstStyle/>
          <a:p>
            <a:pPr algn="l"/>
            <a:r>
              <a:rPr sz="4000" b="1" i="0">
                <a:solidFill>
                  <a:srgbClr val="F97316"/>
                </a:solidFill>
                <a:latin typeface="Calibri"/>
              </a:rPr>
              <a:t>70%</a:t>
            </a:r>
          </a:p>
        </p:txBody>
      </p:sp>
      <p:sp>
        <p:nvSpPr>
          <p:cNvPr id="15" name="TextBox 14"/>
          <p:cNvSpPr txBox="1"/>
          <p:nvPr/>
        </p:nvSpPr>
        <p:spPr>
          <a:xfrm>
            <a:off x="4572000" y="2926080"/>
            <a:ext cx="3108960" cy="1051560"/>
          </a:xfrm>
          <a:prstGeom prst="rect">
            <a:avLst/>
          </a:prstGeom>
          <a:noFill/>
        </p:spPr>
        <p:txBody>
          <a:bodyPr wrap="square">
            <a:spAutoFit/>
          </a:bodyPr>
          <a:lstStyle/>
          <a:p>
            <a:pPr algn="l"/>
            <a:r>
              <a:rPr sz="1200" b="0" i="0">
                <a:solidFill>
                  <a:srgbClr val="94A3B8"/>
                </a:solidFill>
                <a:latin typeface="Calibri"/>
              </a:rPr>
              <a:t>of sub-Saharan African employment comes from the informal economy</a:t>
            </a:r>
          </a:p>
        </p:txBody>
      </p:sp>
      <p:sp>
        <p:nvSpPr>
          <p:cNvPr id="16" name="Rectangle 15"/>
          <p:cNvSpPr/>
          <p:nvPr/>
        </p:nvSpPr>
        <p:spPr>
          <a:xfrm>
            <a:off x="8138160" y="1965960"/>
            <a:ext cx="342900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96596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66760" y="2103120"/>
            <a:ext cx="3108960" cy="804672"/>
          </a:xfrm>
          <a:prstGeom prst="rect">
            <a:avLst/>
          </a:prstGeom>
          <a:noFill/>
        </p:spPr>
        <p:txBody>
          <a:bodyPr wrap="square">
            <a:spAutoFit/>
          </a:bodyPr>
          <a:lstStyle/>
          <a:p>
            <a:pPr algn="l"/>
            <a:r>
              <a:rPr sz="3000" b="1" i="0">
                <a:solidFill>
                  <a:srgbClr val="F97316"/>
                </a:solidFill>
                <a:latin typeface="Calibri"/>
              </a:rPr>
              <a:t>$17.6B</a:t>
            </a:r>
          </a:p>
        </p:txBody>
      </p:sp>
      <p:sp>
        <p:nvSpPr>
          <p:cNvPr id="19" name="TextBox 18"/>
          <p:cNvSpPr txBox="1"/>
          <p:nvPr/>
        </p:nvSpPr>
        <p:spPr>
          <a:xfrm>
            <a:off x="8366760" y="2926080"/>
            <a:ext cx="3108960" cy="1051560"/>
          </a:xfrm>
          <a:prstGeom prst="rect">
            <a:avLst/>
          </a:prstGeom>
          <a:noFill/>
        </p:spPr>
        <p:txBody>
          <a:bodyPr wrap="square">
            <a:spAutoFit/>
          </a:bodyPr>
          <a:lstStyle/>
          <a:p>
            <a:pPr algn="l"/>
            <a:r>
              <a:rPr sz="1200" b="0" i="0">
                <a:solidFill>
                  <a:srgbClr val="94A3B8"/>
                </a:solidFill>
                <a:latin typeface="Calibri"/>
              </a:rPr>
              <a:t>in informal cross-border trade in SADC — all outside formal systems</a:t>
            </a:r>
          </a:p>
        </p:txBody>
      </p:sp>
      <p:sp>
        <p:nvSpPr>
          <p:cNvPr id="20" name="Rectangle 19"/>
          <p:cNvSpPr/>
          <p:nvPr/>
        </p:nvSpPr>
        <p:spPr>
          <a:xfrm>
            <a:off x="548640" y="4251960"/>
            <a:ext cx="342900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25196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389120"/>
            <a:ext cx="3108960" cy="804672"/>
          </a:xfrm>
          <a:prstGeom prst="rect">
            <a:avLst/>
          </a:prstGeom>
          <a:noFill/>
        </p:spPr>
        <p:txBody>
          <a:bodyPr wrap="square">
            <a:spAutoFit/>
          </a:bodyPr>
          <a:lstStyle/>
          <a:p>
            <a:pPr algn="l"/>
            <a:r>
              <a:rPr sz="3000" b="1" i="0">
                <a:solidFill>
                  <a:srgbClr val="F97316"/>
                </a:solidFill>
                <a:latin typeface="Calibri"/>
              </a:rPr>
              <a:t>10,000</a:t>
            </a:r>
          </a:p>
        </p:txBody>
      </p:sp>
      <p:sp>
        <p:nvSpPr>
          <p:cNvPr id="23" name="TextBox 22"/>
          <p:cNvSpPr txBox="1"/>
          <p:nvPr/>
        </p:nvSpPr>
        <p:spPr>
          <a:xfrm>
            <a:off x="777240" y="5212080"/>
            <a:ext cx="3108960" cy="1051560"/>
          </a:xfrm>
          <a:prstGeom prst="rect">
            <a:avLst/>
          </a:prstGeom>
          <a:noFill/>
        </p:spPr>
        <p:txBody>
          <a:bodyPr wrap="square">
            <a:spAutoFit/>
          </a:bodyPr>
          <a:lstStyle/>
          <a:p>
            <a:pPr algn="l"/>
            <a:r>
              <a:rPr sz="1200" b="0" i="0">
                <a:solidFill>
                  <a:srgbClr val="94A3B8"/>
                </a:solidFill>
                <a:latin typeface="Calibri"/>
              </a:rPr>
              <a:t>users — Year 1 target across Lagos, Abuja &amp; Port Harcourt</a:t>
            </a:r>
          </a:p>
        </p:txBody>
      </p:sp>
      <p:sp>
        <p:nvSpPr>
          <p:cNvPr id="24" name="Rectangle 23"/>
          <p:cNvSpPr/>
          <p:nvPr/>
        </p:nvSpPr>
        <p:spPr>
          <a:xfrm>
            <a:off x="4343400" y="4251960"/>
            <a:ext cx="342900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425196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4389120"/>
            <a:ext cx="3108960" cy="804672"/>
          </a:xfrm>
          <a:prstGeom prst="rect">
            <a:avLst/>
          </a:prstGeom>
          <a:noFill/>
        </p:spPr>
        <p:txBody>
          <a:bodyPr wrap="square">
            <a:spAutoFit/>
          </a:bodyPr>
          <a:lstStyle/>
          <a:p>
            <a:pPr algn="l"/>
            <a:r>
              <a:rPr sz="3000" b="1" i="0">
                <a:solidFill>
                  <a:srgbClr val="F97316"/>
                </a:solidFill>
                <a:latin typeface="Calibri"/>
              </a:rPr>
              <a:t>500,000</a:t>
            </a:r>
          </a:p>
        </p:txBody>
      </p:sp>
      <p:sp>
        <p:nvSpPr>
          <p:cNvPr id="27" name="TextBox 26"/>
          <p:cNvSpPr txBox="1"/>
          <p:nvPr/>
        </p:nvSpPr>
        <p:spPr>
          <a:xfrm>
            <a:off x="4572000" y="5212080"/>
            <a:ext cx="3108960" cy="1051560"/>
          </a:xfrm>
          <a:prstGeom prst="rect">
            <a:avLst/>
          </a:prstGeom>
          <a:noFill/>
        </p:spPr>
        <p:txBody>
          <a:bodyPr wrap="square">
            <a:spAutoFit/>
          </a:bodyPr>
          <a:lstStyle/>
          <a:p>
            <a:pPr algn="l"/>
            <a:r>
              <a:rPr sz="1200" b="0" i="0">
                <a:solidFill>
                  <a:srgbClr val="94A3B8"/>
                </a:solidFill>
                <a:latin typeface="Calibri"/>
              </a:rPr>
              <a:t>users — Year 3 target with national rollout to all 36 states</a:t>
            </a:r>
          </a:p>
        </p:txBody>
      </p:sp>
      <p:sp>
        <p:nvSpPr>
          <p:cNvPr id="28" name="Rectangle 27"/>
          <p:cNvSpPr/>
          <p:nvPr/>
        </p:nvSpPr>
        <p:spPr>
          <a:xfrm>
            <a:off x="8138160" y="4251960"/>
            <a:ext cx="3429000" cy="210312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38160" y="425196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66760" y="4389120"/>
            <a:ext cx="3108960" cy="804672"/>
          </a:xfrm>
          <a:prstGeom prst="rect">
            <a:avLst/>
          </a:prstGeom>
          <a:noFill/>
        </p:spPr>
        <p:txBody>
          <a:bodyPr wrap="square">
            <a:spAutoFit/>
          </a:bodyPr>
          <a:lstStyle/>
          <a:p>
            <a:pPr algn="l"/>
            <a:r>
              <a:rPr sz="4000" b="1" i="0">
                <a:solidFill>
                  <a:srgbClr val="F97316"/>
                </a:solidFill>
                <a:latin typeface="Calibri"/>
              </a:rPr>
              <a:t>₦200K</a:t>
            </a:r>
          </a:p>
        </p:txBody>
      </p:sp>
      <p:sp>
        <p:nvSpPr>
          <p:cNvPr id="31" name="TextBox 30"/>
          <p:cNvSpPr txBox="1"/>
          <p:nvPr/>
        </p:nvSpPr>
        <p:spPr>
          <a:xfrm>
            <a:off x="8366760" y="5212080"/>
            <a:ext cx="3108960" cy="1051560"/>
          </a:xfrm>
          <a:prstGeom prst="rect">
            <a:avLst/>
          </a:prstGeom>
          <a:noFill/>
        </p:spPr>
        <p:txBody>
          <a:bodyPr wrap="square">
            <a:spAutoFit/>
          </a:bodyPr>
          <a:lstStyle/>
          <a:p>
            <a:pPr algn="l"/>
            <a:r>
              <a:rPr sz="1200" b="0" i="0">
                <a:solidFill>
                  <a:srgbClr val="94A3B8"/>
                </a:solidFill>
                <a:latin typeface="Calibri"/>
              </a:rPr>
              <a:t>average first loan unlocked at Low Risk tier (score ≥ 55)</a:t>
            </a:r>
          </a:p>
        </p:txBody>
      </p:sp>
      <p:sp>
        <p:nvSpPr>
          <p:cNvPr id="32" name="TextBox 31"/>
          <p:cNvSpPr txBox="1"/>
          <p:nvPr/>
        </p:nvSpPr>
        <p:spPr>
          <a:xfrm>
            <a:off x="548640" y="6583680"/>
            <a:ext cx="10972800" cy="274320"/>
          </a:xfrm>
          <a:prstGeom prst="rect">
            <a:avLst/>
          </a:prstGeom>
          <a:noFill/>
        </p:spPr>
        <p:txBody>
          <a:bodyPr wrap="square">
            <a:spAutoFit/>
          </a:bodyPr>
          <a:lstStyle/>
          <a:p>
            <a:pPr algn="l"/>
            <a:r>
              <a:rPr sz="800" b="0" i="0">
                <a:solidFill>
                  <a:srgbClr val="445570"/>
                </a:solidFill>
                <a:latin typeface="Calibri"/>
              </a:rPr>
              <a:t>Source: ILO 2023  ·  EFInA 2023  ·  SADC Trade Report  ·  NBS Nigeria Labour Force Survey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08  —  SCALABILITY &amp; BUSINESS MODEL</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9144000" cy="685800"/>
          </a:xfrm>
          <a:prstGeom prst="rect">
            <a:avLst/>
          </a:prstGeom>
          <a:noFill/>
        </p:spPr>
        <p:txBody>
          <a:bodyPr wrap="square">
            <a:spAutoFit/>
          </a:bodyPr>
          <a:lstStyle/>
          <a:p>
            <a:pPr algn="l"/>
            <a:r>
              <a:rPr sz="3800" b="1" i="0">
                <a:solidFill>
                  <a:srgbClr val="FFFFFF"/>
                </a:solidFill>
                <a:latin typeface="Calibri"/>
              </a:rPr>
              <a:t>Designed to Scale. Built to Last.</a:t>
            </a:r>
          </a:p>
        </p:txBody>
      </p:sp>
      <p:sp>
        <p:nvSpPr>
          <p:cNvPr id="7" name="TextBox 6"/>
          <p:cNvSpPr txBox="1"/>
          <p:nvPr/>
        </p:nvSpPr>
        <p:spPr>
          <a:xfrm>
            <a:off x="548640" y="1463040"/>
            <a:ext cx="11064240" cy="457200"/>
          </a:xfrm>
          <a:prstGeom prst="rect">
            <a:avLst/>
          </a:prstGeom>
          <a:noFill/>
        </p:spPr>
        <p:txBody>
          <a:bodyPr wrap="square">
            <a:spAutoFit/>
          </a:bodyPr>
          <a:lstStyle/>
          <a:p>
            <a:pPr algn="l"/>
            <a:r>
              <a:rPr sz="1300" b="0" i="0">
                <a:solidFill>
                  <a:srgbClr val="94A3B8"/>
                </a:solidFill>
                <a:latin typeface="Calibri"/>
              </a:rPr>
              <a:t>Trace is not a hackathon project. It is a production-grade infrastructure play with a defensible data moat that deepens as more users join the network.</a:t>
            </a:r>
          </a:p>
        </p:txBody>
      </p:sp>
      <p:sp>
        <p:nvSpPr>
          <p:cNvPr id="8" name="TextBox 7"/>
          <p:cNvSpPr txBox="1"/>
          <p:nvPr/>
        </p:nvSpPr>
        <p:spPr>
          <a:xfrm>
            <a:off x="548640" y="2011680"/>
            <a:ext cx="5212080" cy="347472"/>
          </a:xfrm>
          <a:prstGeom prst="rect">
            <a:avLst/>
          </a:prstGeom>
          <a:noFill/>
        </p:spPr>
        <p:txBody>
          <a:bodyPr wrap="square">
            <a:spAutoFit/>
          </a:bodyPr>
          <a:lstStyle/>
          <a:p>
            <a:pPr algn="l"/>
            <a:r>
              <a:rPr sz="1100" b="1" i="0">
                <a:solidFill>
                  <a:srgbClr val="F97316"/>
                </a:solidFill>
                <a:latin typeface="Calibri"/>
              </a:rPr>
              <a:t>REVENUE STREAMS</a:t>
            </a:r>
          </a:p>
        </p:txBody>
      </p:sp>
      <p:sp>
        <p:nvSpPr>
          <p:cNvPr id="9" name="Rectangle 8"/>
          <p:cNvSpPr/>
          <p:nvPr/>
        </p:nvSpPr>
        <p:spPr>
          <a:xfrm>
            <a:off x="548640" y="2487168"/>
            <a:ext cx="5212080" cy="804672"/>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87168"/>
            <a:ext cx="36576" cy="8046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51176"/>
            <a:ext cx="4956048" cy="320040"/>
          </a:xfrm>
          <a:prstGeom prst="rect">
            <a:avLst/>
          </a:prstGeom>
          <a:noFill/>
        </p:spPr>
        <p:txBody>
          <a:bodyPr wrap="square">
            <a:spAutoFit/>
          </a:bodyPr>
          <a:lstStyle/>
          <a:p>
            <a:pPr algn="l"/>
            <a:r>
              <a:rPr sz="1200" b="1" i="0">
                <a:solidFill>
                  <a:srgbClr val="FFFFFF"/>
                </a:solidFill>
                <a:latin typeface="Calibri"/>
              </a:rPr>
              <a:t>Transaction Fees</a:t>
            </a:r>
          </a:p>
        </p:txBody>
      </p:sp>
      <p:sp>
        <p:nvSpPr>
          <p:cNvPr id="12" name="TextBox 11"/>
          <p:cNvSpPr txBox="1"/>
          <p:nvPr/>
        </p:nvSpPr>
        <p:spPr>
          <a:xfrm>
            <a:off x="731520" y="2889504"/>
            <a:ext cx="4956048" cy="384048"/>
          </a:xfrm>
          <a:prstGeom prst="rect">
            <a:avLst/>
          </a:prstGeom>
          <a:noFill/>
        </p:spPr>
        <p:txBody>
          <a:bodyPr wrap="square">
            <a:spAutoFit/>
          </a:bodyPr>
          <a:lstStyle/>
          <a:p>
            <a:pPr algn="l"/>
            <a:r>
              <a:rPr sz="1000" b="0" i="0">
                <a:solidFill>
                  <a:srgbClr val="94A3B8"/>
                </a:solidFill>
                <a:latin typeface="Calibri"/>
              </a:rPr>
              <a:t>1% on all Squad-powered transfers. 1,000 users × 5 tx/month × ₦5K avg = ₦250K/month at launch.</a:t>
            </a:r>
          </a:p>
        </p:txBody>
      </p:sp>
      <p:sp>
        <p:nvSpPr>
          <p:cNvPr id="13" name="Rectangle 12"/>
          <p:cNvSpPr/>
          <p:nvPr/>
        </p:nvSpPr>
        <p:spPr>
          <a:xfrm>
            <a:off x="548640" y="3383280"/>
            <a:ext cx="5212080" cy="804672"/>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83280"/>
            <a:ext cx="36576" cy="8046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447288"/>
            <a:ext cx="4956048" cy="320040"/>
          </a:xfrm>
          <a:prstGeom prst="rect">
            <a:avLst/>
          </a:prstGeom>
          <a:noFill/>
        </p:spPr>
        <p:txBody>
          <a:bodyPr wrap="square">
            <a:spAutoFit/>
          </a:bodyPr>
          <a:lstStyle/>
          <a:p>
            <a:pPr algn="l"/>
            <a:r>
              <a:rPr sz="1200" b="1" i="0">
                <a:solidFill>
                  <a:srgbClr val="FFFFFF"/>
                </a:solidFill>
                <a:latin typeface="Calibri"/>
              </a:rPr>
              <a:t>Loan Origination Fee</a:t>
            </a:r>
          </a:p>
        </p:txBody>
      </p:sp>
      <p:sp>
        <p:nvSpPr>
          <p:cNvPr id="16" name="TextBox 15"/>
          <p:cNvSpPr txBox="1"/>
          <p:nvPr/>
        </p:nvSpPr>
        <p:spPr>
          <a:xfrm>
            <a:off x="731520" y="3785616"/>
            <a:ext cx="4956048" cy="384048"/>
          </a:xfrm>
          <a:prstGeom prst="rect">
            <a:avLst/>
          </a:prstGeom>
          <a:noFill/>
        </p:spPr>
        <p:txBody>
          <a:bodyPr wrap="square">
            <a:spAutoFit/>
          </a:bodyPr>
          <a:lstStyle/>
          <a:p>
            <a:pPr algn="l"/>
            <a:r>
              <a:rPr sz="1000" b="0" i="0">
                <a:solidFill>
                  <a:srgbClr val="94A3B8"/>
                </a:solidFill>
                <a:latin typeface="Calibri"/>
              </a:rPr>
              <a:t>2–3% on micro-loans facilitated via partner institutions — charged to the lender, not the user.</a:t>
            </a:r>
          </a:p>
        </p:txBody>
      </p:sp>
      <p:sp>
        <p:nvSpPr>
          <p:cNvPr id="17" name="Rectangle 16"/>
          <p:cNvSpPr/>
          <p:nvPr/>
        </p:nvSpPr>
        <p:spPr>
          <a:xfrm>
            <a:off x="548640" y="4279392"/>
            <a:ext cx="5212080" cy="804672"/>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79392"/>
            <a:ext cx="36576" cy="8046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43400"/>
            <a:ext cx="4956048" cy="320040"/>
          </a:xfrm>
          <a:prstGeom prst="rect">
            <a:avLst/>
          </a:prstGeom>
          <a:noFill/>
        </p:spPr>
        <p:txBody>
          <a:bodyPr wrap="square">
            <a:spAutoFit/>
          </a:bodyPr>
          <a:lstStyle/>
          <a:p>
            <a:pPr algn="l"/>
            <a:r>
              <a:rPr sz="1200" b="1" i="0">
                <a:solidFill>
                  <a:srgbClr val="FFFFFF"/>
                </a:solidFill>
                <a:latin typeface="Calibri"/>
              </a:rPr>
              <a:t>Premium Employer Accounts</a:t>
            </a:r>
          </a:p>
        </p:txBody>
      </p:sp>
      <p:sp>
        <p:nvSpPr>
          <p:cNvPr id="20" name="TextBox 19"/>
          <p:cNvSpPr txBox="1"/>
          <p:nvPr/>
        </p:nvSpPr>
        <p:spPr>
          <a:xfrm>
            <a:off x="731520" y="4681728"/>
            <a:ext cx="4956048" cy="384048"/>
          </a:xfrm>
          <a:prstGeom prst="rect">
            <a:avLst/>
          </a:prstGeom>
          <a:noFill/>
        </p:spPr>
        <p:txBody>
          <a:bodyPr wrap="square">
            <a:spAutoFit/>
          </a:bodyPr>
          <a:lstStyle/>
          <a:p>
            <a:pPr algn="l"/>
            <a:r>
              <a:rPr sz="1000" b="0" i="0">
                <a:solidFill>
                  <a:srgbClr val="94A3B8"/>
                </a:solidFill>
                <a:latin typeface="Calibri"/>
              </a:rPr>
              <a:t>₦15,000/month for verified employers with priority listing and applicant analytics.</a:t>
            </a:r>
          </a:p>
        </p:txBody>
      </p:sp>
      <p:sp>
        <p:nvSpPr>
          <p:cNvPr id="21" name="Rectangle 20"/>
          <p:cNvSpPr/>
          <p:nvPr/>
        </p:nvSpPr>
        <p:spPr>
          <a:xfrm>
            <a:off x="548640" y="5175504"/>
            <a:ext cx="5212080" cy="804672"/>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75504"/>
            <a:ext cx="36576" cy="8046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39512"/>
            <a:ext cx="4956048" cy="320040"/>
          </a:xfrm>
          <a:prstGeom prst="rect">
            <a:avLst/>
          </a:prstGeom>
          <a:noFill/>
        </p:spPr>
        <p:txBody>
          <a:bodyPr wrap="square">
            <a:spAutoFit/>
          </a:bodyPr>
          <a:lstStyle/>
          <a:p>
            <a:pPr algn="l"/>
            <a:r>
              <a:rPr sz="1200" b="1" i="0">
                <a:solidFill>
                  <a:srgbClr val="FFFFFF"/>
                </a:solidFill>
                <a:latin typeface="Calibri"/>
              </a:rPr>
              <a:t>Data Intelligence Reports</a:t>
            </a:r>
          </a:p>
        </p:txBody>
      </p:sp>
      <p:sp>
        <p:nvSpPr>
          <p:cNvPr id="24" name="TextBox 23"/>
          <p:cNvSpPr txBox="1"/>
          <p:nvPr/>
        </p:nvSpPr>
        <p:spPr>
          <a:xfrm>
            <a:off x="731520" y="5577840"/>
            <a:ext cx="4956048" cy="384048"/>
          </a:xfrm>
          <a:prstGeom prst="rect">
            <a:avLst/>
          </a:prstGeom>
          <a:noFill/>
        </p:spPr>
        <p:txBody>
          <a:bodyPr wrap="square">
            <a:spAutoFit/>
          </a:bodyPr>
          <a:lstStyle/>
          <a:p>
            <a:pPr algn="l"/>
            <a:r>
              <a:rPr sz="1000" b="0" i="0">
                <a:solidFill>
                  <a:srgbClr val="94A3B8"/>
                </a:solidFill>
                <a:latin typeface="Calibri"/>
              </a:rPr>
              <a:t>Anonymized market demand signals sold to NGOs, government, and development finance institutions.</a:t>
            </a:r>
          </a:p>
        </p:txBody>
      </p:sp>
      <p:sp>
        <p:nvSpPr>
          <p:cNvPr id="25" name="TextBox 24"/>
          <p:cNvSpPr txBox="1"/>
          <p:nvPr/>
        </p:nvSpPr>
        <p:spPr>
          <a:xfrm>
            <a:off x="6309360" y="2011680"/>
            <a:ext cx="5303520" cy="347472"/>
          </a:xfrm>
          <a:prstGeom prst="rect">
            <a:avLst/>
          </a:prstGeom>
          <a:noFill/>
        </p:spPr>
        <p:txBody>
          <a:bodyPr wrap="square">
            <a:spAutoFit/>
          </a:bodyPr>
          <a:lstStyle/>
          <a:p>
            <a:pPr algn="l"/>
            <a:r>
              <a:rPr sz="1100" b="1" i="0">
                <a:solidFill>
                  <a:srgbClr val="F97316"/>
                </a:solidFill>
                <a:latin typeface="Calibri"/>
              </a:rPr>
              <a:t>ROLLOUT ROADMAP</a:t>
            </a:r>
          </a:p>
        </p:txBody>
      </p:sp>
      <p:sp>
        <p:nvSpPr>
          <p:cNvPr id="26" name="Rectangle 25"/>
          <p:cNvSpPr/>
          <p:nvPr/>
        </p:nvSpPr>
        <p:spPr>
          <a:xfrm>
            <a:off x="6309360" y="2487168"/>
            <a:ext cx="5303520" cy="804672"/>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09360" y="2487168"/>
            <a:ext cx="36576" cy="8046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2551176"/>
            <a:ext cx="5047488" cy="320040"/>
          </a:xfrm>
          <a:prstGeom prst="rect">
            <a:avLst/>
          </a:prstGeom>
          <a:noFill/>
        </p:spPr>
        <p:txBody>
          <a:bodyPr wrap="square">
            <a:spAutoFit/>
          </a:bodyPr>
          <a:lstStyle/>
          <a:p>
            <a:pPr algn="l"/>
            <a:r>
              <a:rPr sz="1200" b="1" i="0">
                <a:solidFill>
                  <a:srgbClr val="FFFFFF"/>
                </a:solidFill>
                <a:latin typeface="Calibri"/>
              </a:rPr>
              <a:t>Phase 1  (0–6 months)</a:t>
            </a:r>
          </a:p>
        </p:txBody>
      </p:sp>
      <p:sp>
        <p:nvSpPr>
          <p:cNvPr id="29" name="TextBox 28"/>
          <p:cNvSpPr txBox="1"/>
          <p:nvPr/>
        </p:nvSpPr>
        <p:spPr>
          <a:xfrm>
            <a:off x="6492240" y="2889504"/>
            <a:ext cx="5047488" cy="384048"/>
          </a:xfrm>
          <a:prstGeom prst="rect">
            <a:avLst/>
          </a:prstGeom>
          <a:noFill/>
        </p:spPr>
        <p:txBody>
          <a:bodyPr wrap="square">
            <a:spAutoFit/>
          </a:bodyPr>
          <a:lstStyle/>
          <a:p>
            <a:pPr algn="l"/>
            <a:r>
              <a:rPr sz="1000" b="0" i="0">
                <a:solidFill>
                  <a:srgbClr val="94A3B8"/>
                </a:solidFill>
                <a:latin typeface="Calibri"/>
              </a:rPr>
              <a:t>Lagos, Abuja, Port Harcourt  ·  Target: 10,000 users
Focus: onboarding, gig matching, virtual account adoption</a:t>
            </a:r>
          </a:p>
        </p:txBody>
      </p:sp>
      <p:sp>
        <p:nvSpPr>
          <p:cNvPr id="30" name="Rectangle 29"/>
          <p:cNvSpPr/>
          <p:nvPr/>
        </p:nvSpPr>
        <p:spPr>
          <a:xfrm>
            <a:off x="6309360" y="3383280"/>
            <a:ext cx="5303520" cy="804672"/>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383280"/>
            <a:ext cx="36576" cy="8046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3447288"/>
            <a:ext cx="5047488" cy="320040"/>
          </a:xfrm>
          <a:prstGeom prst="rect">
            <a:avLst/>
          </a:prstGeom>
          <a:noFill/>
        </p:spPr>
        <p:txBody>
          <a:bodyPr wrap="square">
            <a:spAutoFit/>
          </a:bodyPr>
          <a:lstStyle/>
          <a:p>
            <a:pPr algn="l"/>
            <a:r>
              <a:rPr sz="1200" b="1" i="0">
                <a:solidFill>
                  <a:srgbClr val="FFFFFF"/>
                </a:solidFill>
                <a:latin typeface="Calibri"/>
              </a:rPr>
              <a:t>Phase 2  (6–18 months)</a:t>
            </a:r>
          </a:p>
        </p:txBody>
      </p:sp>
      <p:sp>
        <p:nvSpPr>
          <p:cNvPr id="33" name="TextBox 32"/>
          <p:cNvSpPr txBox="1"/>
          <p:nvPr/>
        </p:nvSpPr>
        <p:spPr>
          <a:xfrm>
            <a:off x="6492240" y="3785616"/>
            <a:ext cx="5047488" cy="384048"/>
          </a:xfrm>
          <a:prstGeom prst="rect">
            <a:avLst/>
          </a:prstGeom>
          <a:noFill/>
        </p:spPr>
        <p:txBody>
          <a:bodyPr wrap="square">
            <a:spAutoFit/>
          </a:bodyPr>
          <a:lstStyle/>
          <a:p>
            <a:pPr algn="l"/>
            <a:r>
              <a:rPr sz="1000" b="0" i="0">
                <a:solidFill>
                  <a:srgbClr val="94A3B8"/>
                </a:solidFill>
                <a:latin typeface="Calibri"/>
              </a:rPr>
              <a:t>All 36 Nigerian states  ·  Target: 100,000 users
Focus: Finance Gateway, partner institution onboarding</a:t>
            </a:r>
          </a:p>
        </p:txBody>
      </p:sp>
      <p:sp>
        <p:nvSpPr>
          <p:cNvPr id="34" name="Rectangle 33"/>
          <p:cNvSpPr/>
          <p:nvPr/>
        </p:nvSpPr>
        <p:spPr>
          <a:xfrm>
            <a:off x="6309360" y="4279392"/>
            <a:ext cx="5303520" cy="804672"/>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4279392"/>
            <a:ext cx="36576" cy="8046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4343400"/>
            <a:ext cx="5047488" cy="320040"/>
          </a:xfrm>
          <a:prstGeom prst="rect">
            <a:avLst/>
          </a:prstGeom>
          <a:noFill/>
        </p:spPr>
        <p:txBody>
          <a:bodyPr wrap="square">
            <a:spAutoFit/>
          </a:bodyPr>
          <a:lstStyle/>
          <a:p>
            <a:pPr algn="l"/>
            <a:r>
              <a:rPr sz="1200" b="1" i="0">
                <a:solidFill>
                  <a:srgbClr val="FFFFFF"/>
                </a:solidFill>
                <a:latin typeface="Calibri"/>
              </a:rPr>
              <a:t>Phase 3  (18–36 months)</a:t>
            </a:r>
          </a:p>
        </p:txBody>
      </p:sp>
      <p:sp>
        <p:nvSpPr>
          <p:cNvPr id="37" name="TextBox 36"/>
          <p:cNvSpPr txBox="1"/>
          <p:nvPr/>
        </p:nvSpPr>
        <p:spPr>
          <a:xfrm>
            <a:off x="6492240" y="4681728"/>
            <a:ext cx="5047488" cy="384048"/>
          </a:xfrm>
          <a:prstGeom prst="rect">
            <a:avLst/>
          </a:prstGeom>
          <a:noFill/>
        </p:spPr>
        <p:txBody>
          <a:bodyPr wrap="square">
            <a:spAutoFit/>
          </a:bodyPr>
          <a:lstStyle/>
          <a:p>
            <a:pPr algn="l"/>
            <a:r>
              <a:rPr sz="1000" b="0" i="0">
                <a:solidFill>
                  <a:srgbClr val="94A3B8"/>
                </a:solidFill>
                <a:latin typeface="Calibri"/>
              </a:rPr>
              <a:t>Ghana, Kenya, Rwanda  ·  Target: 500,000 users
Focus: national credit scoring, cross-border trade intelligence</a:t>
            </a:r>
          </a:p>
        </p:txBody>
      </p:sp>
      <p:sp>
        <p:nvSpPr>
          <p:cNvPr id="38" name="Rectangle 37"/>
          <p:cNvSpPr/>
          <p:nvPr/>
        </p:nvSpPr>
        <p:spPr>
          <a:xfrm>
            <a:off x="6309360" y="5212080"/>
            <a:ext cx="5303520" cy="1005840"/>
          </a:xfrm>
          <a:prstGeom prst="rect">
            <a:avLst/>
          </a:prstGeom>
          <a:solidFill>
            <a:srgbClr val="060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09360" y="5212080"/>
            <a:ext cx="5303520"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5266944"/>
            <a:ext cx="5047488" cy="320040"/>
          </a:xfrm>
          <a:prstGeom prst="rect">
            <a:avLst/>
          </a:prstGeom>
          <a:noFill/>
        </p:spPr>
        <p:txBody>
          <a:bodyPr wrap="square">
            <a:spAutoFit/>
          </a:bodyPr>
          <a:lstStyle/>
          <a:p>
            <a:pPr algn="l"/>
            <a:r>
              <a:rPr sz="1000" b="1" i="0">
                <a:solidFill>
                  <a:srgbClr val="F97316"/>
                </a:solidFill>
                <a:latin typeface="Calibri"/>
              </a:rPr>
              <a:t>TECHNOLOGY FOUNDATION</a:t>
            </a:r>
          </a:p>
        </p:txBody>
      </p:sp>
      <p:sp>
        <p:nvSpPr>
          <p:cNvPr id="41" name="TextBox 40"/>
          <p:cNvSpPr txBox="1"/>
          <p:nvPr/>
        </p:nvSpPr>
        <p:spPr>
          <a:xfrm>
            <a:off x="6492240" y="5596128"/>
            <a:ext cx="5047488" cy="594360"/>
          </a:xfrm>
          <a:prstGeom prst="rect">
            <a:avLst/>
          </a:prstGeom>
          <a:noFill/>
        </p:spPr>
        <p:txBody>
          <a:bodyPr wrap="square">
            <a:spAutoFit/>
          </a:bodyPr>
          <a:lstStyle/>
          <a:p>
            <a:pPr algn="l"/>
            <a:r>
              <a:rPr sz="1000" b="0" i="0">
                <a:solidFill>
                  <a:srgbClr val="94A3B8"/>
                </a:solidFill>
                <a:latin typeface="Calibri"/>
              </a:rPr>
              <a:t>NestJS  ·  Next.js (PWA)  ·  Python FastAPI  ·  gRPC  ·  PostgreSQL  ·  Redis + BullMQ  ·  Docker  ·  Squad API
Containerized microservices — horizontal scaling from day one. No vendor lock-in.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09  —  RESEARCH &amp; VALIDATION</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9144000" cy="685800"/>
          </a:xfrm>
          <a:prstGeom prst="rect">
            <a:avLst/>
          </a:prstGeom>
          <a:noFill/>
        </p:spPr>
        <p:txBody>
          <a:bodyPr wrap="square">
            <a:spAutoFit/>
          </a:bodyPr>
          <a:lstStyle/>
          <a:p>
            <a:pPr algn="l"/>
            <a:r>
              <a:rPr sz="3800" b="1" i="0">
                <a:solidFill>
                  <a:srgbClr val="FFFFFF"/>
                </a:solidFill>
                <a:latin typeface="Calibri"/>
              </a:rPr>
              <a:t>Evidence-Backed, User-Tested.</a:t>
            </a:r>
          </a:p>
        </p:txBody>
      </p:sp>
      <p:sp>
        <p:nvSpPr>
          <p:cNvPr id="7" name="TextBox 6"/>
          <p:cNvSpPr txBox="1"/>
          <p:nvPr/>
        </p:nvSpPr>
        <p:spPr>
          <a:xfrm>
            <a:off x="548640" y="1463040"/>
            <a:ext cx="9144000" cy="411480"/>
          </a:xfrm>
          <a:prstGeom prst="rect">
            <a:avLst/>
          </a:prstGeom>
          <a:noFill/>
        </p:spPr>
        <p:txBody>
          <a:bodyPr wrap="square">
            <a:spAutoFit/>
          </a:bodyPr>
          <a:lstStyle/>
          <a:p>
            <a:pPr algn="l"/>
            <a:r>
              <a:rPr sz="1300" b="0" i="0">
                <a:solidFill>
                  <a:srgbClr val="94A3B8"/>
                </a:solidFill>
                <a:latin typeface="Calibri"/>
              </a:rPr>
              <a:t>The problem is documented at scale. The market is measurable. The user demand is direct and specific.</a:t>
            </a:r>
          </a:p>
        </p:txBody>
      </p:sp>
      <p:sp>
        <p:nvSpPr>
          <p:cNvPr id="8" name="Rectangle 7"/>
          <p:cNvSpPr/>
          <p:nvPr/>
        </p:nvSpPr>
        <p:spPr>
          <a:xfrm>
            <a:off x="548640" y="1920240"/>
            <a:ext cx="2606040" cy="15544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0240"/>
            <a:ext cx="26060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2331720" cy="594360"/>
          </a:xfrm>
          <a:prstGeom prst="rect">
            <a:avLst/>
          </a:prstGeom>
          <a:noFill/>
        </p:spPr>
        <p:txBody>
          <a:bodyPr wrap="square">
            <a:spAutoFit/>
          </a:bodyPr>
          <a:lstStyle/>
          <a:p>
            <a:pPr algn="l"/>
            <a:r>
              <a:rPr sz="3600" b="1" i="0">
                <a:solidFill>
                  <a:srgbClr val="F97316"/>
                </a:solidFill>
                <a:latin typeface="Calibri"/>
              </a:rPr>
              <a:t>70%</a:t>
            </a:r>
          </a:p>
        </p:txBody>
      </p:sp>
      <p:sp>
        <p:nvSpPr>
          <p:cNvPr id="11" name="TextBox 10"/>
          <p:cNvSpPr txBox="1"/>
          <p:nvPr/>
        </p:nvSpPr>
        <p:spPr>
          <a:xfrm>
            <a:off x="731520" y="2651760"/>
            <a:ext cx="2331720" cy="594360"/>
          </a:xfrm>
          <a:prstGeom prst="rect">
            <a:avLst/>
          </a:prstGeom>
          <a:noFill/>
        </p:spPr>
        <p:txBody>
          <a:bodyPr wrap="square">
            <a:spAutoFit/>
          </a:bodyPr>
          <a:lstStyle/>
          <a:p>
            <a:pPr algn="l"/>
            <a:r>
              <a:rPr sz="1000" b="0" i="0">
                <a:solidFill>
                  <a:srgbClr val="94A3B8"/>
                </a:solidFill>
                <a:latin typeface="Calibri"/>
              </a:rPr>
              <a:t>of sub-Saharan African employment is in the informal sector</a:t>
            </a:r>
          </a:p>
        </p:txBody>
      </p:sp>
      <p:sp>
        <p:nvSpPr>
          <p:cNvPr id="12" name="TextBox 11"/>
          <p:cNvSpPr txBox="1"/>
          <p:nvPr/>
        </p:nvSpPr>
        <p:spPr>
          <a:xfrm>
            <a:off x="731520" y="3182112"/>
            <a:ext cx="2331720" cy="274320"/>
          </a:xfrm>
          <a:prstGeom prst="rect">
            <a:avLst/>
          </a:prstGeom>
          <a:noFill/>
        </p:spPr>
        <p:txBody>
          <a:bodyPr wrap="square">
            <a:spAutoFit/>
          </a:bodyPr>
          <a:lstStyle/>
          <a:p>
            <a:pPr algn="l"/>
            <a:r>
              <a:rPr sz="900" b="0" i="0">
                <a:solidFill>
                  <a:srgbClr val="445570"/>
                </a:solidFill>
                <a:latin typeface="Calibri"/>
              </a:rPr>
              <a:t>ILO 2023</a:t>
            </a:r>
          </a:p>
        </p:txBody>
      </p:sp>
      <p:sp>
        <p:nvSpPr>
          <p:cNvPr id="13" name="Rectangle 12"/>
          <p:cNvSpPr/>
          <p:nvPr/>
        </p:nvSpPr>
        <p:spPr>
          <a:xfrm>
            <a:off x="3474720" y="1920240"/>
            <a:ext cx="2606040" cy="15544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74720" y="1920240"/>
            <a:ext cx="26060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029968"/>
            <a:ext cx="2331720" cy="594360"/>
          </a:xfrm>
          <a:prstGeom prst="rect">
            <a:avLst/>
          </a:prstGeom>
          <a:noFill/>
        </p:spPr>
        <p:txBody>
          <a:bodyPr wrap="square">
            <a:spAutoFit/>
          </a:bodyPr>
          <a:lstStyle/>
          <a:p>
            <a:pPr algn="l"/>
            <a:r>
              <a:rPr sz="3600" b="1" i="0">
                <a:solidFill>
                  <a:srgbClr val="F97316"/>
                </a:solidFill>
                <a:latin typeface="Calibri"/>
              </a:rPr>
              <a:t>37%</a:t>
            </a:r>
          </a:p>
        </p:txBody>
      </p:sp>
      <p:sp>
        <p:nvSpPr>
          <p:cNvPr id="16" name="TextBox 15"/>
          <p:cNvSpPr txBox="1"/>
          <p:nvPr/>
        </p:nvSpPr>
        <p:spPr>
          <a:xfrm>
            <a:off x="3657600" y="2651760"/>
            <a:ext cx="2331720" cy="594360"/>
          </a:xfrm>
          <a:prstGeom prst="rect">
            <a:avLst/>
          </a:prstGeom>
          <a:noFill/>
        </p:spPr>
        <p:txBody>
          <a:bodyPr wrap="square">
            <a:spAutoFit/>
          </a:bodyPr>
          <a:lstStyle/>
          <a:p>
            <a:pPr algn="l"/>
            <a:r>
              <a:rPr sz="1000" b="0" i="0">
                <a:solidFill>
                  <a:srgbClr val="94A3B8"/>
                </a:solidFill>
                <a:latin typeface="Calibri"/>
              </a:rPr>
              <a:t>of Nigerian adults have a formal bank account</a:t>
            </a:r>
          </a:p>
        </p:txBody>
      </p:sp>
      <p:sp>
        <p:nvSpPr>
          <p:cNvPr id="17" name="TextBox 16"/>
          <p:cNvSpPr txBox="1"/>
          <p:nvPr/>
        </p:nvSpPr>
        <p:spPr>
          <a:xfrm>
            <a:off x="3657600" y="3182112"/>
            <a:ext cx="2331720" cy="274320"/>
          </a:xfrm>
          <a:prstGeom prst="rect">
            <a:avLst/>
          </a:prstGeom>
          <a:noFill/>
        </p:spPr>
        <p:txBody>
          <a:bodyPr wrap="square">
            <a:spAutoFit/>
          </a:bodyPr>
          <a:lstStyle/>
          <a:p>
            <a:pPr algn="l"/>
            <a:r>
              <a:rPr sz="900" b="0" i="0">
                <a:solidFill>
                  <a:srgbClr val="445570"/>
                </a:solidFill>
                <a:latin typeface="Calibri"/>
              </a:rPr>
              <a:t>EFInA 2023</a:t>
            </a:r>
          </a:p>
        </p:txBody>
      </p:sp>
      <p:sp>
        <p:nvSpPr>
          <p:cNvPr id="18" name="Rectangle 17"/>
          <p:cNvSpPr/>
          <p:nvPr/>
        </p:nvSpPr>
        <p:spPr>
          <a:xfrm>
            <a:off x="6400800" y="1920240"/>
            <a:ext cx="2606040" cy="15544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1920240"/>
            <a:ext cx="26060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029968"/>
            <a:ext cx="2331720" cy="594360"/>
          </a:xfrm>
          <a:prstGeom prst="rect">
            <a:avLst/>
          </a:prstGeom>
          <a:noFill/>
        </p:spPr>
        <p:txBody>
          <a:bodyPr wrap="square">
            <a:spAutoFit/>
          </a:bodyPr>
          <a:lstStyle/>
          <a:p>
            <a:pPr algn="l"/>
            <a:r>
              <a:rPr sz="3600" b="1" i="0">
                <a:solidFill>
                  <a:srgbClr val="F97316"/>
                </a:solidFill>
                <a:latin typeface="Calibri"/>
              </a:rPr>
              <a:t>85%</a:t>
            </a:r>
          </a:p>
        </p:txBody>
      </p:sp>
      <p:sp>
        <p:nvSpPr>
          <p:cNvPr id="21" name="TextBox 20"/>
          <p:cNvSpPr txBox="1"/>
          <p:nvPr/>
        </p:nvSpPr>
        <p:spPr>
          <a:xfrm>
            <a:off x="6583680" y="2651760"/>
            <a:ext cx="2331720" cy="594360"/>
          </a:xfrm>
          <a:prstGeom prst="rect">
            <a:avLst/>
          </a:prstGeom>
          <a:noFill/>
        </p:spPr>
        <p:txBody>
          <a:bodyPr wrap="square">
            <a:spAutoFit/>
          </a:bodyPr>
          <a:lstStyle/>
          <a:p>
            <a:pPr algn="l"/>
            <a:r>
              <a:rPr sz="1000" b="0" i="0">
                <a:solidFill>
                  <a:srgbClr val="94A3B8"/>
                </a:solidFill>
                <a:latin typeface="Calibri"/>
              </a:rPr>
              <a:t>of SME loan applications in Nigeria rejected — no credit history</a:t>
            </a:r>
          </a:p>
        </p:txBody>
      </p:sp>
      <p:sp>
        <p:nvSpPr>
          <p:cNvPr id="22" name="TextBox 21"/>
          <p:cNvSpPr txBox="1"/>
          <p:nvPr/>
        </p:nvSpPr>
        <p:spPr>
          <a:xfrm>
            <a:off x="6583680" y="3182112"/>
            <a:ext cx="2331720" cy="274320"/>
          </a:xfrm>
          <a:prstGeom prst="rect">
            <a:avLst/>
          </a:prstGeom>
          <a:noFill/>
        </p:spPr>
        <p:txBody>
          <a:bodyPr wrap="square">
            <a:spAutoFit/>
          </a:bodyPr>
          <a:lstStyle/>
          <a:p>
            <a:pPr algn="l"/>
            <a:r>
              <a:rPr sz="900" b="0" i="0">
                <a:solidFill>
                  <a:srgbClr val="445570"/>
                </a:solidFill>
                <a:latin typeface="Calibri"/>
              </a:rPr>
              <a:t>CBN 2022</a:t>
            </a:r>
          </a:p>
        </p:txBody>
      </p:sp>
      <p:sp>
        <p:nvSpPr>
          <p:cNvPr id="23" name="Rectangle 22"/>
          <p:cNvSpPr/>
          <p:nvPr/>
        </p:nvSpPr>
        <p:spPr>
          <a:xfrm>
            <a:off x="9326880" y="1920240"/>
            <a:ext cx="2606040" cy="15544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326880" y="1920240"/>
            <a:ext cx="26060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0" y="2029968"/>
            <a:ext cx="2331720" cy="594360"/>
          </a:xfrm>
          <a:prstGeom prst="rect">
            <a:avLst/>
          </a:prstGeom>
          <a:noFill/>
        </p:spPr>
        <p:txBody>
          <a:bodyPr wrap="square">
            <a:spAutoFit/>
          </a:bodyPr>
          <a:lstStyle/>
          <a:p>
            <a:pPr algn="l"/>
            <a:r>
              <a:rPr sz="2600" b="1" i="0">
                <a:solidFill>
                  <a:srgbClr val="F97316"/>
                </a:solidFill>
                <a:latin typeface="Calibri"/>
              </a:rPr>
              <a:t>$17.6B</a:t>
            </a:r>
          </a:p>
        </p:txBody>
      </p:sp>
      <p:sp>
        <p:nvSpPr>
          <p:cNvPr id="26" name="TextBox 25"/>
          <p:cNvSpPr txBox="1"/>
          <p:nvPr/>
        </p:nvSpPr>
        <p:spPr>
          <a:xfrm>
            <a:off x="9509760" y="2651760"/>
            <a:ext cx="2331720" cy="594360"/>
          </a:xfrm>
          <a:prstGeom prst="rect">
            <a:avLst/>
          </a:prstGeom>
          <a:noFill/>
        </p:spPr>
        <p:txBody>
          <a:bodyPr wrap="square">
            <a:spAutoFit/>
          </a:bodyPr>
          <a:lstStyle/>
          <a:p>
            <a:pPr algn="l"/>
            <a:r>
              <a:rPr sz="1000" b="0" i="0">
                <a:solidFill>
                  <a:srgbClr val="94A3B8"/>
                </a:solidFill>
                <a:latin typeface="Calibri"/>
              </a:rPr>
              <a:t>in informal cross-border trade in SADC annually</a:t>
            </a:r>
          </a:p>
        </p:txBody>
      </p:sp>
      <p:sp>
        <p:nvSpPr>
          <p:cNvPr id="27" name="TextBox 26"/>
          <p:cNvSpPr txBox="1"/>
          <p:nvPr/>
        </p:nvSpPr>
        <p:spPr>
          <a:xfrm>
            <a:off x="9509760" y="3182112"/>
            <a:ext cx="2331720" cy="274320"/>
          </a:xfrm>
          <a:prstGeom prst="rect">
            <a:avLst/>
          </a:prstGeom>
          <a:noFill/>
        </p:spPr>
        <p:txBody>
          <a:bodyPr wrap="square">
            <a:spAutoFit/>
          </a:bodyPr>
          <a:lstStyle/>
          <a:p>
            <a:pPr algn="l"/>
            <a:r>
              <a:rPr sz="900" b="0" i="0">
                <a:solidFill>
                  <a:srgbClr val="445570"/>
                </a:solidFill>
                <a:latin typeface="Calibri"/>
              </a:rPr>
              <a:t>SADC Report</a:t>
            </a:r>
          </a:p>
        </p:txBody>
      </p:sp>
      <p:sp>
        <p:nvSpPr>
          <p:cNvPr id="28" name="Rectangle 27"/>
          <p:cNvSpPr/>
          <p:nvPr/>
        </p:nvSpPr>
        <p:spPr>
          <a:xfrm>
            <a:off x="548640" y="3611880"/>
            <a:ext cx="11064240" cy="2487168"/>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11880"/>
            <a:ext cx="1106424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721608"/>
            <a:ext cx="10058400" cy="347472"/>
          </a:xfrm>
          <a:prstGeom prst="rect">
            <a:avLst/>
          </a:prstGeom>
          <a:noFill/>
        </p:spPr>
        <p:txBody>
          <a:bodyPr wrap="square">
            <a:spAutoFit/>
          </a:bodyPr>
          <a:lstStyle/>
          <a:p>
            <a:pPr algn="l"/>
            <a:r>
              <a:rPr sz="1100" b="1" i="0">
                <a:solidFill>
                  <a:srgbClr val="F97316"/>
                </a:solidFill>
                <a:latin typeface="Calibri"/>
              </a:rPr>
              <a:t>USER RESEARCH  —  12 INTERVIEWS  ·  LAGOS &amp; ABUJA</a:t>
            </a:r>
          </a:p>
        </p:txBody>
      </p:sp>
      <p:sp>
        <p:nvSpPr>
          <p:cNvPr id="31" name="TextBox 30"/>
          <p:cNvSpPr txBox="1"/>
          <p:nvPr/>
        </p:nvSpPr>
        <p:spPr>
          <a:xfrm>
            <a:off x="777240" y="4142232"/>
            <a:ext cx="10515600" cy="365760"/>
          </a:xfrm>
          <a:prstGeom prst="rect">
            <a:avLst/>
          </a:prstGeom>
          <a:noFill/>
        </p:spPr>
        <p:txBody>
          <a:bodyPr wrap="square">
            <a:spAutoFit/>
          </a:bodyPr>
          <a:lstStyle/>
          <a:p>
            <a:pPr algn="l"/>
            <a:r>
              <a:rPr sz="1200" b="0" i="0">
                <a:solidFill>
                  <a:srgbClr val="94A3B8"/>
                </a:solidFill>
                <a:latin typeface="Calibri"/>
              </a:rPr>
              <a:t>12 of 12  —  had a smartphone and used mobile money (OPay, PalmPay) daily. Digital exclusion is not the problem.</a:t>
            </a:r>
          </a:p>
        </p:txBody>
      </p:sp>
      <p:sp>
        <p:nvSpPr>
          <p:cNvPr id="32" name="TextBox 31"/>
          <p:cNvSpPr txBox="1"/>
          <p:nvPr/>
        </p:nvSpPr>
        <p:spPr>
          <a:xfrm>
            <a:off x="777240" y="4526280"/>
            <a:ext cx="10515600" cy="365760"/>
          </a:xfrm>
          <a:prstGeom prst="rect">
            <a:avLst/>
          </a:prstGeom>
          <a:noFill/>
        </p:spPr>
        <p:txBody>
          <a:bodyPr wrap="square">
            <a:spAutoFit/>
          </a:bodyPr>
          <a:lstStyle/>
          <a:p>
            <a:pPr algn="l"/>
            <a:r>
              <a:rPr sz="1200" b="0" i="0">
                <a:solidFill>
                  <a:srgbClr val="94A3B8"/>
                </a:solidFill>
                <a:latin typeface="Calibri"/>
              </a:rPr>
              <a:t>9 of 12   —  had been rejected for a bank loan or could not access credit in the past 12 months.</a:t>
            </a:r>
          </a:p>
        </p:txBody>
      </p:sp>
      <p:sp>
        <p:nvSpPr>
          <p:cNvPr id="33" name="TextBox 32"/>
          <p:cNvSpPr txBox="1"/>
          <p:nvPr/>
        </p:nvSpPr>
        <p:spPr>
          <a:xfrm>
            <a:off x="777240" y="4910328"/>
            <a:ext cx="10515600" cy="365760"/>
          </a:xfrm>
          <a:prstGeom prst="rect">
            <a:avLst/>
          </a:prstGeom>
          <a:noFill/>
        </p:spPr>
        <p:txBody>
          <a:bodyPr wrap="square">
            <a:spAutoFit/>
          </a:bodyPr>
          <a:lstStyle/>
          <a:p>
            <a:pPr algn="l"/>
            <a:r>
              <a:rPr sz="1200" b="0" i="0">
                <a:solidFill>
                  <a:srgbClr val="94A3B8"/>
                </a:solidFill>
                <a:latin typeface="Calibri"/>
              </a:rPr>
              <a:t>11 of 12  —  said they would share financial data in exchange for better access to loans and financial products.</a:t>
            </a:r>
          </a:p>
        </p:txBody>
      </p:sp>
      <p:sp>
        <p:nvSpPr>
          <p:cNvPr id="34" name="TextBox 33"/>
          <p:cNvSpPr txBox="1"/>
          <p:nvPr/>
        </p:nvSpPr>
        <p:spPr>
          <a:xfrm>
            <a:off x="777240" y="5294376"/>
            <a:ext cx="10515600" cy="365760"/>
          </a:xfrm>
          <a:prstGeom prst="rect">
            <a:avLst/>
          </a:prstGeom>
          <a:noFill/>
        </p:spPr>
        <p:txBody>
          <a:bodyPr wrap="square">
            <a:spAutoFit/>
          </a:bodyPr>
          <a:lstStyle/>
          <a:p>
            <a:pPr algn="l"/>
            <a:r>
              <a:rPr sz="1200" b="0" i="0">
                <a:solidFill>
                  <a:srgbClr val="94A3B8"/>
                </a:solidFill>
                <a:latin typeface="Calibri"/>
              </a:rPr>
              <a:t>8 of 12   —  were earning across multiple income streams with no institution able to see the full picture.</a:t>
            </a:r>
          </a:p>
        </p:txBody>
      </p:sp>
      <p:sp>
        <p:nvSpPr>
          <p:cNvPr id="35" name="TextBox 34"/>
          <p:cNvSpPr txBox="1"/>
          <p:nvPr/>
        </p:nvSpPr>
        <p:spPr>
          <a:xfrm>
            <a:off x="777240" y="5678424"/>
            <a:ext cx="10515600" cy="365760"/>
          </a:xfrm>
          <a:prstGeom prst="rect">
            <a:avLst/>
          </a:prstGeom>
          <a:noFill/>
        </p:spPr>
        <p:txBody>
          <a:bodyPr wrap="square">
            <a:spAutoFit/>
          </a:bodyPr>
          <a:lstStyle/>
          <a:p>
            <a:pPr algn="l"/>
            <a:r>
              <a:rPr sz="1200" b="0" i="1">
                <a:solidFill>
                  <a:srgbClr val="F97316"/>
                </a:solidFill>
                <a:latin typeface="Calibri"/>
              </a:rPr>
              <a:t>"Every person we spoke to knew exactly what they earned and what they were worth. The system just couldn't see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365760"/>
          </a:xfrm>
          <a:prstGeom prst="rect">
            <a:avLst/>
          </a:prstGeom>
          <a:noFill/>
        </p:spPr>
        <p:txBody>
          <a:bodyPr wrap="square">
            <a:spAutoFit/>
          </a:bodyPr>
          <a:lstStyle/>
          <a:p>
            <a:pPr algn="l"/>
            <a:r>
              <a:rPr sz="1100" b="1" i="0">
                <a:solidFill>
                  <a:srgbClr val="F97316"/>
                </a:solidFill>
                <a:latin typeface="Calibri"/>
              </a:rPr>
              <a:t>10  —  THE TEAM</a:t>
            </a:r>
          </a:p>
        </p:txBody>
      </p:sp>
      <p:sp>
        <p:nvSpPr>
          <p:cNvPr id="4" name="Rectangle 3"/>
          <p:cNvSpPr/>
          <p:nvPr/>
        </p:nvSpPr>
        <p:spPr>
          <a:xfrm>
            <a:off x="548640" y="6492240"/>
            <a:ext cx="11064240" cy="2743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515600" y="182880"/>
            <a:ext cx="1554480" cy="1554480"/>
          </a:xfrm>
          <a:prstGeom prst="ellipse">
            <a:avLst/>
          </a:prstGeom>
          <a:noFill/>
          <a:ln w="203200">
            <a:solidFill>
              <a:srgbClr val="1E2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77240"/>
            <a:ext cx="9144000" cy="685800"/>
          </a:xfrm>
          <a:prstGeom prst="rect">
            <a:avLst/>
          </a:prstGeom>
          <a:noFill/>
        </p:spPr>
        <p:txBody>
          <a:bodyPr wrap="square">
            <a:spAutoFit/>
          </a:bodyPr>
          <a:lstStyle/>
          <a:p>
            <a:pPr algn="l"/>
            <a:r>
              <a:rPr sz="3800" b="1" i="0">
                <a:solidFill>
                  <a:srgbClr val="FFFFFF"/>
                </a:solidFill>
                <a:latin typeface="Calibri"/>
              </a:rPr>
              <a:t>The Right People for This Moment.</a:t>
            </a:r>
          </a:p>
        </p:txBody>
      </p:sp>
      <p:sp>
        <p:nvSpPr>
          <p:cNvPr id="7" name="TextBox 6"/>
          <p:cNvSpPr txBox="1"/>
          <p:nvPr/>
        </p:nvSpPr>
        <p:spPr>
          <a:xfrm>
            <a:off x="548640" y="1463040"/>
            <a:ext cx="10515600" cy="457200"/>
          </a:xfrm>
          <a:prstGeom prst="rect">
            <a:avLst/>
          </a:prstGeom>
          <a:noFill/>
        </p:spPr>
        <p:txBody>
          <a:bodyPr wrap="square">
            <a:spAutoFit/>
          </a:bodyPr>
          <a:lstStyle/>
          <a:p>
            <a:pPr algn="l"/>
            <a:r>
              <a:rPr sz="1300" b="0" i="0">
                <a:solidFill>
                  <a:srgbClr val="94A3B8"/>
                </a:solidFill>
                <a:latin typeface="Calibri"/>
              </a:rPr>
              <a:t>We are Nigerian engineers who built Trace because this problem is personal. We know these users — because we grew up around them.</a:t>
            </a:r>
          </a:p>
        </p:txBody>
      </p:sp>
      <p:sp>
        <p:nvSpPr>
          <p:cNvPr id="8" name="Rectangle 7"/>
          <p:cNvSpPr/>
          <p:nvPr/>
        </p:nvSpPr>
        <p:spPr>
          <a:xfrm>
            <a:off x="548640" y="2057400"/>
            <a:ext cx="3429000" cy="29260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5740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21992"/>
            <a:ext cx="3063240" cy="457200"/>
          </a:xfrm>
          <a:prstGeom prst="rect">
            <a:avLst/>
          </a:prstGeom>
          <a:noFill/>
        </p:spPr>
        <p:txBody>
          <a:bodyPr wrap="square">
            <a:spAutoFit/>
          </a:bodyPr>
          <a:lstStyle/>
          <a:p>
            <a:pPr algn="l"/>
            <a:r>
              <a:rPr sz="1500" b="1" i="0">
                <a:solidFill>
                  <a:srgbClr val="FFFFFF"/>
                </a:solidFill>
                <a:latin typeface="Calibri"/>
              </a:rPr>
              <a:t>Praise Olaiwon</a:t>
            </a:r>
          </a:p>
        </p:txBody>
      </p:sp>
      <p:sp>
        <p:nvSpPr>
          <p:cNvPr id="11" name="TextBox 10"/>
          <p:cNvSpPr txBox="1"/>
          <p:nvPr/>
        </p:nvSpPr>
        <p:spPr>
          <a:xfrm>
            <a:off x="777240" y="2679192"/>
            <a:ext cx="3063240" cy="347472"/>
          </a:xfrm>
          <a:prstGeom prst="rect">
            <a:avLst/>
          </a:prstGeom>
          <a:noFill/>
        </p:spPr>
        <p:txBody>
          <a:bodyPr wrap="square">
            <a:spAutoFit/>
          </a:bodyPr>
          <a:lstStyle/>
          <a:p>
            <a:pPr algn="l"/>
            <a:r>
              <a:rPr sz="1100" b="0" i="0">
                <a:solidFill>
                  <a:srgbClr val="F97316"/>
                </a:solidFill>
                <a:latin typeface="Calibri"/>
              </a:rPr>
              <a:t>Product Lead &amp; Full-Stack Engineer</a:t>
            </a:r>
          </a:p>
        </p:txBody>
      </p:sp>
      <p:sp>
        <p:nvSpPr>
          <p:cNvPr id="12" name="Rectangle 11"/>
          <p:cNvSpPr/>
          <p:nvPr/>
        </p:nvSpPr>
        <p:spPr>
          <a:xfrm>
            <a:off x="777240" y="3063240"/>
            <a:ext cx="306324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136392"/>
            <a:ext cx="3063240" cy="1325880"/>
          </a:xfrm>
          <a:prstGeom prst="rect">
            <a:avLst/>
          </a:prstGeom>
          <a:noFill/>
        </p:spPr>
        <p:txBody>
          <a:bodyPr wrap="square">
            <a:spAutoFit/>
          </a:bodyPr>
          <a:lstStyle/>
          <a:p>
            <a:pPr algn="l"/>
            <a:r>
              <a:rPr sz="1100" b="0" i="0">
                <a:solidFill>
                  <a:srgbClr val="94A3B8"/>
                </a:solidFill>
                <a:latin typeface="Calibri"/>
              </a:rPr>
              <a:t>System architecture  ·  NestJS backend  ·  Next.js frontend
Squad API integration  ·  PostgreSQL  ·  Docker  ·  CI/CD pipeline</a:t>
            </a:r>
          </a:p>
        </p:txBody>
      </p:sp>
      <p:sp>
        <p:nvSpPr>
          <p:cNvPr id="14" name="TextBox 13"/>
          <p:cNvSpPr txBox="1"/>
          <p:nvPr/>
        </p:nvSpPr>
        <p:spPr>
          <a:xfrm>
            <a:off x="777240" y="4416552"/>
            <a:ext cx="3063240" cy="502920"/>
          </a:xfrm>
          <a:prstGeom prst="rect">
            <a:avLst/>
          </a:prstGeom>
          <a:noFill/>
        </p:spPr>
        <p:txBody>
          <a:bodyPr wrap="square">
            <a:spAutoFit/>
          </a:bodyPr>
          <a:lstStyle/>
          <a:p>
            <a:pPr algn="l"/>
            <a:r>
              <a:rPr sz="1100" b="0" i="1">
                <a:solidFill>
                  <a:srgbClr val="F97316"/>
                </a:solidFill>
                <a:latin typeface="Calibri"/>
              </a:rPr>
              <a:t>"Built the full platform end-to-end"</a:t>
            </a:r>
          </a:p>
        </p:txBody>
      </p:sp>
      <p:sp>
        <p:nvSpPr>
          <p:cNvPr id="15" name="Rectangle 14"/>
          <p:cNvSpPr/>
          <p:nvPr/>
        </p:nvSpPr>
        <p:spPr>
          <a:xfrm>
            <a:off x="4343400" y="2057400"/>
            <a:ext cx="3429000" cy="29260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205740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2221992"/>
            <a:ext cx="3063240" cy="457200"/>
          </a:xfrm>
          <a:prstGeom prst="rect">
            <a:avLst/>
          </a:prstGeom>
          <a:noFill/>
        </p:spPr>
        <p:txBody>
          <a:bodyPr wrap="square">
            <a:spAutoFit/>
          </a:bodyPr>
          <a:lstStyle/>
          <a:p>
            <a:pPr algn="l"/>
            <a:r>
              <a:rPr sz="1500" b="1" i="0">
                <a:solidFill>
                  <a:srgbClr val="FFFFFF"/>
                </a:solidFill>
                <a:latin typeface="Calibri"/>
              </a:rPr>
              <a:t>[Team Member 2]</a:t>
            </a:r>
          </a:p>
        </p:txBody>
      </p:sp>
      <p:sp>
        <p:nvSpPr>
          <p:cNvPr id="18" name="TextBox 17"/>
          <p:cNvSpPr txBox="1"/>
          <p:nvPr/>
        </p:nvSpPr>
        <p:spPr>
          <a:xfrm>
            <a:off x="4572000" y="2679192"/>
            <a:ext cx="3063240" cy="347472"/>
          </a:xfrm>
          <a:prstGeom prst="rect">
            <a:avLst/>
          </a:prstGeom>
          <a:noFill/>
        </p:spPr>
        <p:txBody>
          <a:bodyPr wrap="square">
            <a:spAutoFit/>
          </a:bodyPr>
          <a:lstStyle/>
          <a:p>
            <a:pPr algn="l"/>
            <a:r>
              <a:rPr sz="1100" b="0" i="0">
                <a:solidFill>
                  <a:srgbClr val="F97316"/>
                </a:solidFill>
                <a:latin typeface="Calibri"/>
              </a:rPr>
              <a:t>AI / ML Engineer</a:t>
            </a:r>
          </a:p>
        </p:txBody>
      </p:sp>
      <p:sp>
        <p:nvSpPr>
          <p:cNvPr id="19" name="Rectangle 18"/>
          <p:cNvSpPr/>
          <p:nvPr/>
        </p:nvSpPr>
        <p:spPr>
          <a:xfrm>
            <a:off x="4572000" y="3063240"/>
            <a:ext cx="306324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3136392"/>
            <a:ext cx="3063240" cy="1325880"/>
          </a:xfrm>
          <a:prstGeom prst="rect">
            <a:avLst/>
          </a:prstGeom>
          <a:noFill/>
        </p:spPr>
        <p:txBody>
          <a:bodyPr wrap="square">
            <a:spAutoFit/>
          </a:bodyPr>
          <a:lstStyle/>
          <a:p>
            <a:pPr algn="l"/>
            <a:r>
              <a:rPr sz="1100" b="0" i="0">
                <a:solidFill>
                  <a:srgbClr val="94A3B8"/>
                </a:solidFill>
                <a:latin typeface="Calibri"/>
              </a:rPr>
              <a:t>Python FastAPI  ·  gRPC scoring service  ·  scikit-learn
Economic identity model  ·  job matching algorithm  ·  BullMQ</a:t>
            </a:r>
          </a:p>
        </p:txBody>
      </p:sp>
      <p:sp>
        <p:nvSpPr>
          <p:cNvPr id="21" name="TextBox 20"/>
          <p:cNvSpPr txBox="1"/>
          <p:nvPr/>
        </p:nvSpPr>
        <p:spPr>
          <a:xfrm>
            <a:off x="4572000" y="4416552"/>
            <a:ext cx="3063240" cy="502920"/>
          </a:xfrm>
          <a:prstGeom prst="rect">
            <a:avLst/>
          </a:prstGeom>
          <a:noFill/>
        </p:spPr>
        <p:txBody>
          <a:bodyPr wrap="square">
            <a:spAutoFit/>
          </a:bodyPr>
          <a:lstStyle/>
          <a:p>
            <a:pPr algn="l"/>
            <a:r>
              <a:rPr sz="1100" b="0" i="1">
                <a:solidFill>
                  <a:srgbClr val="F97316"/>
                </a:solidFill>
                <a:latin typeface="Calibri"/>
              </a:rPr>
              <a:t>"Built the intelligence layer that makes Trace smarter"</a:t>
            </a:r>
          </a:p>
        </p:txBody>
      </p:sp>
      <p:sp>
        <p:nvSpPr>
          <p:cNvPr id="22" name="Rectangle 21"/>
          <p:cNvSpPr/>
          <p:nvPr/>
        </p:nvSpPr>
        <p:spPr>
          <a:xfrm>
            <a:off x="8138160" y="2057400"/>
            <a:ext cx="3429000" cy="2926080"/>
          </a:xfrm>
          <a:prstGeom prst="rect">
            <a:avLst/>
          </a:prstGeom>
          <a:solidFill>
            <a:srgbClr val="0C15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2057400"/>
            <a:ext cx="3429000"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221992"/>
            <a:ext cx="3063240" cy="457200"/>
          </a:xfrm>
          <a:prstGeom prst="rect">
            <a:avLst/>
          </a:prstGeom>
          <a:noFill/>
        </p:spPr>
        <p:txBody>
          <a:bodyPr wrap="square">
            <a:spAutoFit/>
          </a:bodyPr>
          <a:lstStyle/>
          <a:p>
            <a:pPr algn="l"/>
            <a:r>
              <a:rPr sz="1500" b="1" i="0">
                <a:solidFill>
                  <a:srgbClr val="FFFFFF"/>
                </a:solidFill>
                <a:latin typeface="Calibri"/>
              </a:rPr>
              <a:t>[Team Member 3]</a:t>
            </a:r>
          </a:p>
        </p:txBody>
      </p:sp>
      <p:sp>
        <p:nvSpPr>
          <p:cNvPr id="25" name="TextBox 24"/>
          <p:cNvSpPr txBox="1"/>
          <p:nvPr/>
        </p:nvSpPr>
        <p:spPr>
          <a:xfrm>
            <a:off x="8366760" y="2679192"/>
            <a:ext cx="3063240" cy="347472"/>
          </a:xfrm>
          <a:prstGeom prst="rect">
            <a:avLst/>
          </a:prstGeom>
          <a:noFill/>
        </p:spPr>
        <p:txBody>
          <a:bodyPr wrap="square">
            <a:spAutoFit/>
          </a:bodyPr>
          <a:lstStyle/>
          <a:p>
            <a:pPr algn="l"/>
            <a:r>
              <a:rPr sz="1100" b="0" i="0">
                <a:solidFill>
                  <a:srgbClr val="F97316"/>
                </a:solidFill>
                <a:latin typeface="Calibri"/>
              </a:rPr>
              <a:t>Frontend &amp; Product Designer</a:t>
            </a:r>
          </a:p>
        </p:txBody>
      </p:sp>
      <p:sp>
        <p:nvSpPr>
          <p:cNvPr id="26" name="Rectangle 25"/>
          <p:cNvSpPr/>
          <p:nvPr/>
        </p:nvSpPr>
        <p:spPr>
          <a:xfrm>
            <a:off x="8366760" y="3063240"/>
            <a:ext cx="3063240" cy="13716"/>
          </a:xfrm>
          <a:prstGeom prst="rect">
            <a:avLst/>
          </a:prstGeom>
          <a:solidFill>
            <a:srgbClr val="1E2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3136392"/>
            <a:ext cx="3063240" cy="1325880"/>
          </a:xfrm>
          <a:prstGeom prst="rect">
            <a:avLst/>
          </a:prstGeom>
          <a:noFill/>
        </p:spPr>
        <p:txBody>
          <a:bodyPr wrap="square">
            <a:spAutoFit/>
          </a:bodyPr>
          <a:lstStyle/>
          <a:p>
            <a:pPr algn="l"/>
            <a:r>
              <a:rPr sz="1100" b="0" i="0">
                <a:solidFill>
                  <a:srgbClr val="94A3B8"/>
                </a:solidFill>
                <a:latin typeface="Calibri"/>
              </a:rPr>
              <a:t>React / Next.js  ·  Mobile-first PWA  ·  Onboarding UX
Dashboard design  ·  User research interviews  ·  Figma</a:t>
            </a:r>
          </a:p>
        </p:txBody>
      </p:sp>
      <p:sp>
        <p:nvSpPr>
          <p:cNvPr id="28" name="TextBox 27"/>
          <p:cNvSpPr txBox="1"/>
          <p:nvPr/>
        </p:nvSpPr>
        <p:spPr>
          <a:xfrm>
            <a:off x="8366760" y="4416552"/>
            <a:ext cx="3063240" cy="502920"/>
          </a:xfrm>
          <a:prstGeom prst="rect">
            <a:avLst/>
          </a:prstGeom>
          <a:noFill/>
        </p:spPr>
        <p:txBody>
          <a:bodyPr wrap="square">
            <a:spAutoFit/>
          </a:bodyPr>
          <a:lstStyle/>
          <a:p>
            <a:pPr algn="l"/>
            <a:r>
              <a:rPr sz="1100" b="0" i="1">
                <a:solidFill>
                  <a:srgbClr val="F97316"/>
                </a:solidFill>
                <a:latin typeface="Calibri"/>
              </a:rPr>
              <a:t>"Designed the experience from the user's perspective"</a:t>
            </a:r>
          </a:p>
        </p:txBody>
      </p:sp>
      <p:sp>
        <p:nvSpPr>
          <p:cNvPr id="29" name="Rectangle 28"/>
          <p:cNvSpPr/>
          <p:nvPr/>
        </p:nvSpPr>
        <p:spPr>
          <a:xfrm>
            <a:off x="548640" y="5166360"/>
            <a:ext cx="11064240" cy="1097280"/>
          </a:xfrm>
          <a:prstGeom prst="rect">
            <a:avLst/>
          </a:prstGeom>
          <a:solidFill>
            <a:srgbClr val="060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166360"/>
            <a:ext cx="45720" cy="109728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303520"/>
            <a:ext cx="10607040" cy="868680"/>
          </a:xfrm>
          <a:prstGeom prst="rect">
            <a:avLst/>
          </a:prstGeom>
          <a:noFill/>
        </p:spPr>
        <p:txBody>
          <a:bodyPr wrap="square">
            <a:spAutoFit/>
          </a:bodyPr>
          <a:lstStyle/>
          <a:p>
            <a:pPr algn="l"/>
            <a:r>
              <a:rPr sz="1400" b="0" i="1">
                <a:solidFill>
                  <a:srgbClr val="FFFFFF"/>
                </a:solidFill>
                <a:latin typeface="Calibri"/>
              </a:rPr>
              <a:t>"We didn't build Trace to win a hackathon. We built it because 39 million Nigerians do real work every day and the financial system doesn't know they exist. Trace is how we fix that — one verified identity at a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