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54864" cy="3931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  <a:latin typeface="Calibri"/>
              </a:rPr>
              <a:t>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246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97316"/>
                </a:solidFill>
                <a:latin typeface="Calibri"/>
              </a:rPr>
              <a:t>Economic Identity for the Invisible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86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Connecting informal traders &amp; gig workers to the economy they power.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52160"/>
            <a:ext cx="1106424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Squad Hackathon 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4A3B8"/>
                </a:solidFill>
                <a:latin typeface="Calibri"/>
              </a:rPr>
              <a:t>Challenge 02  ·  Smart Systems: The Intelligent Economy</a:t>
            </a:r>
          </a:p>
        </p:txBody>
      </p:sp>
      <p:sp>
        <p:nvSpPr>
          <p:cNvPr id="10" name="Oval 9"/>
          <p:cNvSpPr/>
          <p:nvPr/>
        </p:nvSpPr>
        <p:spPr>
          <a:xfrm>
            <a:off x="8961120" y="548640"/>
            <a:ext cx="3200400" cy="3200400"/>
          </a:xfrm>
          <a:prstGeom prst="ellipse">
            <a:avLst/>
          </a:prstGeom>
          <a:noFill/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8320" y="1005840"/>
            <a:ext cx="2286000" cy="2286000"/>
          </a:xfrm>
          <a:prstGeom prst="ellipse">
            <a:avLst/>
          </a:prstGeom>
          <a:noFill/>
          <a:ln w="228600">
            <a:solidFill>
              <a:srgbClr val="10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49840" y="4114800"/>
            <a:ext cx="228600" cy="2286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01  —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8229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70% Work.</a:t>
            </a:r>
          </a:p>
          <a:p>
            <a:pPr algn="l"/>
            <a:r>
              <a:rPr sz="5400" b="1">
                <a:solidFill>
                  <a:srgbClr val="F97316"/>
                </a:solidFill>
                <a:latin typeface="Calibri"/>
              </a:rPr>
              <a:t>None of it 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Across sub-Saharan Africa, millions sustain families through informal trade — yet they are invisible to banks, lenders, and the systems that could empower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3383280" cy="2468880"/>
          </a:xfrm>
          <a:prstGeom prst="rect">
            <a:avLst/>
          </a:prstGeom>
          <a:solidFill>
            <a:srgbClr val="0C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703320"/>
            <a:ext cx="338328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87952" y="3703320"/>
            <a:ext cx="3383280" cy="2468880"/>
          </a:xfrm>
          <a:prstGeom prst="rect">
            <a:avLst/>
          </a:prstGeom>
          <a:solidFill>
            <a:srgbClr val="0C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87952" y="3703320"/>
            <a:ext cx="338328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27264" y="3703320"/>
            <a:ext cx="3383280" cy="2468880"/>
          </a:xfrm>
          <a:prstGeom prst="rect">
            <a:avLst/>
          </a:prstGeom>
          <a:solidFill>
            <a:srgbClr val="0C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27264" y="3703320"/>
            <a:ext cx="338328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97316"/>
                </a:solidFill>
                <a:latin typeface="Calibri"/>
              </a:rP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of employment in sub-Saharan Africa
comes from the informal economy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40233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97316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4800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credit score  ·  0 loan history
0 financial identity to show banks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40233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97316"/>
                </a:solidFill>
                <a:latin typeface="Calibri"/>
              </a:rPr>
              <a:t>$17.6B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5864" y="4800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in informal cross-border trade in
SADC alone — uncounted, unserved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0" y="274320"/>
            <a:ext cx="2377440" cy="2377440"/>
          </a:xfrm>
          <a:prstGeom prst="ellipse">
            <a:avLst/>
          </a:prstGeom>
          <a:noFill/>
          <a:ln w="2794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570"/>
                </a:solidFill>
                <a:latin typeface="Calibri"/>
              </a:rPr>
              <a:t>Source: Global Initiative · SADC Informal Trade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